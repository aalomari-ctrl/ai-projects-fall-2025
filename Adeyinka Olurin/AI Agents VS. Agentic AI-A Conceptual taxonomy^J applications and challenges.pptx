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2" r:id="rId1"/>
  </p:sldMasterIdLst>
  <p:notesMasterIdLst>
    <p:notesMasterId r:id="rId9"/>
  </p:notesMasterIdLst>
  <p:sldIdLst>
    <p:sldId id="256" r:id="rId2"/>
    <p:sldId id="257" r:id="rId3"/>
    <p:sldId id="259" r:id="rId4"/>
    <p:sldId id="258" r:id="rId5"/>
    <p:sldId id="263" r:id="rId6"/>
    <p:sldId id="262" r:id="rId7"/>
    <p:sldId id="26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0129"/>
    <a:srgbClr val="6F00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52"/>
    <p:restoredTop sz="66599"/>
  </p:normalViewPr>
  <p:slideViewPr>
    <p:cSldViewPr snapToGrid="0">
      <p:cViewPr varScale="1">
        <p:scale>
          <a:sx n="78" d="100"/>
          <a:sy n="78" d="100"/>
        </p:scale>
        <p:origin x="260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DF801A-B078-504D-A935-9163F2915677}" type="datetimeFigureOut">
              <a:rPr lang="en-US" smtClean="0"/>
              <a:t>12/3/25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989597-7A45-AD44-8931-8183EDF254EB}" type="slidenum">
              <a:rPr lang="en-US" smtClean="0"/>
              <a:t>‹#›</a:t>
            </a:fld>
            <a:endParaRPr lang="en-US"/>
          </a:p>
        </p:txBody>
      </p:sp>
    </p:spTree>
    <p:extLst>
      <p:ext uri="{BB962C8B-B14F-4D97-AF65-F5344CB8AC3E}">
        <p14:creationId xmlns:p14="http://schemas.microsoft.com/office/powerpoint/2010/main" val="772673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989597-7A45-AD44-8931-8183EDF254EB}" type="slidenum">
              <a:rPr lang="en-US" smtClean="0"/>
              <a:t>1</a:t>
            </a:fld>
            <a:endParaRPr lang="en-US"/>
          </a:p>
        </p:txBody>
      </p:sp>
    </p:spTree>
    <p:extLst>
      <p:ext uri="{BB962C8B-B14F-4D97-AF65-F5344CB8AC3E}">
        <p14:creationId xmlns:p14="http://schemas.microsoft.com/office/powerpoint/2010/main" val="4126588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989597-7A45-AD44-8931-8183EDF254EB}" type="slidenum">
              <a:rPr lang="en-US" smtClean="0"/>
              <a:t>2</a:t>
            </a:fld>
            <a:endParaRPr lang="en-US"/>
          </a:p>
        </p:txBody>
      </p:sp>
    </p:spTree>
    <p:extLst>
      <p:ext uri="{BB962C8B-B14F-4D97-AF65-F5344CB8AC3E}">
        <p14:creationId xmlns:p14="http://schemas.microsoft.com/office/powerpoint/2010/main" val="3082726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989597-7A45-AD44-8931-8183EDF254EB}" type="slidenum">
              <a:rPr lang="en-US" smtClean="0"/>
              <a:t>3</a:t>
            </a:fld>
            <a:endParaRPr lang="en-US"/>
          </a:p>
        </p:txBody>
      </p:sp>
    </p:spTree>
    <p:extLst>
      <p:ext uri="{BB962C8B-B14F-4D97-AF65-F5344CB8AC3E}">
        <p14:creationId xmlns:p14="http://schemas.microsoft.com/office/powerpoint/2010/main" val="2125382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989597-7A45-AD44-8931-8183EDF254EB}" type="slidenum">
              <a:rPr lang="en-US" smtClean="0"/>
              <a:t>4</a:t>
            </a:fld>
            <a:endParaRPr lang="en-US"/>
          </a:p>
        </p:txBody>
      </p:sp>
    </p:spTree>
    <p:extLst>
      <p:ext uri="{BB962C8B-B14F-4D97-AF65-F5344CB8AC3E}">
        <p14:creationId xmlns:p14="http://schemas.microsoft.com/office/powerpoint/2010/main" val="3536902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989597-7A45-AD44-8931-8183EDF254EB}" type="slidenum">
              <a:rPr lang="en-US" smtClean="0"/>
              <a:t>5</a:t>
            </a:fld>
            <a:endParaRPr lang="en-US"/>
          </a:p>
        </p:txBody>
      </p:sp>
    </p:spTree>
    <p:extLst>
      <p:ext uri="{BB962C8B-B14F-4D97-AF65-F5344CB8AC3E}">
        <p14:creationId xmlns:p14="http://schemas.microsoft.com/office/powerpoint/2010/main" val="653854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989597-7A45-AD44-8931-8183EDF254EB}" type="slidenum">
              <a:rPr lang="en-US" smtClean="0"/>
              <a:t>6</a:t>
            </a:fld>
            <a:endParaRPr lang="en-US"/>
          </a:p>
        </p:txBody>
      </p:sp>
    </p:spTree>
    <p:extLst>
      <p:ext uri="{BB962C8B-B14F-4D97-AF65-F5344CB8AC3E}">
        <p14:creationId xmlns:p14="http://schemas.microsoft.com/office/powerpoint/2010/main" val="24557970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8AED7C-CCFE-AD4C-A06A-EB7A96832AE7}" type="datetime1">
              <a:rPr lang="en-US" smtClean="0"/>
              <a:t>12/3/25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pic>
        <p:nvPicPr>
          <p:cNvPr id="8" name="Picture 7" descr="A logo with text on it&#10;&#10;AI-generated content may be incorrect.">
            <a:extLst>
              <a:ext uri="{FF2B5EF4-FFF2-40B4-BE49-F238E27FC236}">
                <a16:creationId xmlns:a16="http://schemas.microsoft.com/office/drawing/2014/main" id="{F82E1CD5-DE80-DADB-BA10-8CCFD4217F7E}"/>
              </a:ext>
            </a:extLst>
          </p:cNvPr>
          <p:cNvPicPr>
            <a:picLocks noChangeAspect="1"/>
          </p:cNvPicPr>
          <p:nvPr userDrawn="1"/>
        </p:nvPicPr>
        <p:blipFill>
          <a:blip r:embed="rId2"/>
          <a:stretch>
            <a:fillRect/>
          </a:stretch>
        </p:blipFill>
        <p:spPr>
          <a:xfrm>
            <a:off x="831850" y="5649245"/>
            <a:ext cx="1100811" cy="432245"/>
          </a:xfrm>
          <a:prstGeom prst="rect">
            <a:avLst/>
          </a:prstGeom>
        </p:spPr>
      </p:pic>
    </p:spTree>
    <p:extLst>
      <p:ext uri="{BB962C8B-B14F-4D97-AF65-F5344CB8AC3E}">
        <p14:creationId xmlns:p14="http://schemas.microsoft.com/office/powerpoint/2010/main" val="3132430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DA1A71-44FD-504C-B8F5-8566528CF482}" type="datetime1">
              <a:rPr lang="en-US" smtClean="0"/>
              <a:t>12/3/25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87384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980900-7350-2045-A103-9BE9EC5D893D}" type="datetime1">
              <a:rPr lang="en-US" smtClean="0"/>
              <a:t>12/3/25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pic>
        <p:nvPicPr>
          <p:cNvPr id="7" name="Picture 6" descr="A logo with text on it&#10;&#10;AI-generated content may be incorrect.">
            <a:extLst>
              <a:ext uri="{FF2B5EF4-FFF2-40B4-BE49-F238E27FC236}">
                <a16:creationId xmlns:a16="http://schemas.microsoft.com/office/drawing/2014/main" id="{032E00DD-6904-B5E0-359E-392519F9A8E1}"/>
              </a:ext>
            </a:extLst>
          </p:cNvPr>
          <p:cNvPicPr>
            <a:picLocks noChangeAspect="1"/>
          </p:cNvPicPr>
          <p:nvPr userDrawn="1"/>
        </p:nvPicPr>
        <p:blipFill>
          <a:blip r:embed="rId2"/>
          <a:stretch>
            <a:fillRect/>
          </a:stretch>
        </p:blipFill>
        <p:spPr>
          <a:xfrm>
            <a:off x="831850" y="5649245"/>
            <a:ext cx="1100811" cy="432245"/>
          </a:xfrm>
          <a:prstGeom prst="rect">
            <a:avLst/>
          </a:prstGeom>
        </p:spPr>
      </p:pic>
    </p:spTree>
    <p:extLst>
      <p:ext uri="{BB962C8B-B14F-4D97-AF65-F5344CB8AC3E}">
        <p14:creationId xmlns:p14="http://schemas.microsoft.com/office/powerpoint/2010/main" val="2438747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1EC36E-0AEB-6E43-BAD9-B46C8100EC80}" type="datetime1">
              <a:rPr lang="en-US" smtClean="0"/>
              <a:t>12/3/25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59693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71DF7C-9367-C44D-98A1-FF61179691CB}" type="datetime1">
              <a:rPr lang="en-US" smtClean="0"/>
              <a:t>12/3/25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a:t>
            </a:fld>
            <a:endParaRPr lang="en-US"/>
          </a:p>
        </p:txBody>
      </p:sp>
      <p:pic>
        <p:nvPicPr>
          <p:cNvPr id="10" name="Picture 9" descr="A logo with text on it&#10;&#10;AI-generated content may be incorrect.">
            <a:extLst>
              <a:ext uri="{FF2B5EF4-FFF2-40B4-BE49-F238E27FC236}">
                <a16:creationId xmlns:a16="http://schemas.microsoft.com/office/drawing/2014/main" id="{58BA3FC2-1584-C81D-AE15-127B2A5A244A}"/>
              </a:ext>
            </a:extLst>
          </p:cNvPr>
          <p:cNvPicPr>
            <a:picLocks noChangeAspect="1"/>
          </p:cNvPicPr>
          <p:nvPr userDrawn="1"/>
        </p:nvPicPr>
        <p:blipFill>
          <a:blip r:embed="rId2"/>
          <a:stretch>
            <a:fillRect/>
          </a:stretch>
        </p:blipFill>
        <p:spPr>
          <a:xfrm>
            <a:off x="836612" y="5757418"/>
            <a:ext cx="1100811" cy="432245"/>
          </a:xfrm>
          <a:prstGeom prst="rect">
            <a:avLst/>
          </a:prstGeom>
        </p:spPr>
      </p:pic>
    </p:spTree>
    <p:extLst>
      <p:ext uri="{BB962C8B-B14F-4D97-AF65-F5344CB8AC3E}">
        <p14:creationId xmlns:p14="http://schemas.microsoft.com/office/powerpoint/2010/main" val="1334535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58926C-17A8-D142-899E-BFBE2FB9900F}" type="datetime1">
              <a:rPr lang="en-US" smtClean="0"/>
              <a:t>12/3/25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61946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98DD54-2161-DA48-B904-A2342AABA64F}" type="datetime1">
              <a:rPr lang="en-US" smtClean="0"/>
              <a:t>12/3/25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06432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B601DD6-CA41-8A4A-B52C-B8F8958A58DA}" type="datetime1">
              <a:rPr lang="en-US" smtClean="0"/>
              <a:t>12/3/25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9171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1644C1-C378-144A-A64D-FD25B2427203}" type="datetime1">
              <a:rPr lang="en-US" smtClean="0"/>
              <a:t>12/3/25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97427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403B0E-FDD6-6740-8A12-4488B12DF67E}" type="datetime1">
              <a:rPr lang="en-US" smtClean="0"/>
              <a:t>12/3/25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6795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AADB7B-15E0-ED49-B526-0065346CC7D9}" type="datetime1">
              <a:rPr lang="en-US" smtClean="0"/>
              <a:t>12/3/25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766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A1EDB3-C1EF-2944-B47B-CDE5C1F89B28}" type="datetime1">
              <a:rPr lang="en-US" smtClean="0"/>
              <a:t>12/3/25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59469108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descr="A blue and white room with a blue sky&#10;&#10;AI-generated content may be incorrect.">
            <a:extLst>
              <a:ext uri="{FF2B5EF4-FFF2-40B4-BE49-F238E27FC236}">
                <a16:creationId xmlns:a16="http://schemas.microsoft.com/office/drawing/2014/main" id="{4A54FD93-5CEE-4F7A-2725-7CD0373EDC29}"/>
              </a:ext>
            </a:extLst>
          </p:cNvPr>
          <p:cNvPicPr>
            <a:picLocks noChangeAspect="1"/>
          </p:cNvPicPr>
          <p:nvPr/>
        </p:nvPicPr>
        <p:blipFill>
          <a:blip r:embed="rId3"/>
          <a:srcRect l="9091" t="29809" b="2009"/>
          <a:stretch>
            <a:fillRect/>
          </a:stretch>
        </p:blipFill>
        <p:spPr>
          <a:xfrm>
            <a:off x="0" y="10"/>
            <a:ext cx="12191980" cy="6857990"/>
          </a:xfrm>
          <a:prstGeom prst="rect">
            <a:avLst/>
          </a:prstGeom>
        </p:spPr>
      </p:pic>
      <p:sp>
        <p:nvSpPr>
          <p:cNvPr id="2" name="Title 1">
            <a:extLst>
              <a:ext uri="{FF2B5EF4-FFF2-40B4-BE49-F238E27FC236}">
                <a16:creationId xmlns:a16="http://schemas.microsoft.com/office/drawing/2014/main" id="{F6F6A01C-9CAA-11FB-E88B-32202D91C4C5}"/>
              </a:ext>
            </a:extLst>
          </p:cNvPr>
          <p:cNvSpPr>
            <a:spLocks noGrp="1"/>
          </p:cNvSpPr>
          <p:nvPr>
            <p:ph type="ctrTitle"/>
          </p:nvPr>
        </p:nvSpPr>
        <p:spPr>
          <a:xfrm>
            <a:off x="345911" y="382505"/>
            <a:ext cx="6369686" cy="3474720"/>
          </a:xfrm>
        </p:spPr>
        <p:txBody>
          <a:bodyPr anchor="b">
            <a:normAutofit fontScale="90000"/>
          </a:bodyPr>
          <a:lstStyle/>
          <a:p>
            <a:pPr algn="l"/>
            <a:r>
              <a:rPr lang="en-US" sz="5400" b="1" dirty="0"/>
              <a:t>AI Agents vs. Agentic AI: A Conceptual taxonomy, applications and challenges</a:t>
            </a:r>
          </a:p>
        </p:txBody>
      </p:sp>
      <p:sp>
        <p:nvSpPr>
          <p:cNvPr id="3" name="Subtitle 2">
            <a:extLst>
              <a:ext uri="{FF2B5EF4-FFF2-40B4-BE49-F238E27FC236}">
                <a16:creationId xmlns:a16="http://schemas.microsoft.com/office/drawing/2014/main" id="{D96D198E-F243-57F4-0EBA-7E6918260122}"/>
              </a:ext>
            </a:extLst>
          </p:cNvPr>
          <p:cNvSpPr>
            <a:spLocks noGrp="1"/>
          </p:cNvSpPr>
          <p:nvPr>
            <p:ph type="subTitle" idx="1"/>
          </p:nvPr>
        </p:nvSpPr>
        <p:spPr>
          <a:xfrm>
            <a:off x="8080448" y="4404609"/>
            <a:ext cx="3931920" cy="1386840"/>
          </a:xfrm>
        </p:spPr>
        <p:txBody>
          <a:bodyPr anchor="t">
            <a:normAutofit/>
          </a:bodyPr>
          <a:lstStyle/>
          <a:p>
            <a:pPr algn="r"/>
            <a:r>
              <a:rPr lang="en-US" b="1" dirty="0">
                <a:solidFill>
                  <a:srgbClr val="6F0026"/>
                </a:solidFill>
              </a:rPr>
              <a:t>Adeyinka Olurin</a:t>
            </a:r>
          </a:p>
        </p:txBody>
      </p:sp>
      <p:sp>
        <p:nvSpPr>
          <p:cNvPr id="8" name="TextBox 7">
            <a:extLst>
              <a:ext uri="{FF2B5EF4-FFF2-40B4-BE49-F238E27FC236}">
                <a16:creationId xmlns:a16="http://schemas.microsoft.com/office/drawing/2014/main" id="{E5EC0197-E62C-85E7-73D2-F37821DA531B}"/>
              </a:ext>
            </a:extLst>
          </p:cNvPr>
          <p:cNvSpPr txBox="1"/>
          <p:nvPr/>
        </p:nvSpPr>
        <p:spPr>
          <a:xfrm>
            <a:off x="345911" y="3829007"/>
            <a:ext cx="8030980" cy="369332"/>
          </a:xfrm>
          <a:prstGeom prst="rect">
            <a:avLst/>
          </a:prstGeom>
          <a:noFill/>
        </p:spPr>
        <p:txBody>
          <a:bodyPr wrap="square">
            <a:spAutoFit/>
          </a:bodyPr>
          <a:lstStyle/>
          <a:p>
            <a:r>
              <a:rPr lang="en-US" b="1" dirty="0"/>
              <a:t>Ranjan Sapkota, Konstantinos I. Roumeliotis, Manoj </a:t>
            </a:r>
            <a:r>
              <a:rPr lang="en-US" b="1" dirty="0" err="1"/>
              <a:t>Karkee</a:t>
            </a:r>
            <a:r>
              <a:rPr lang="en-US" b="1" dirty="0"/>
              <a:t>.</a:t>
            </a:r>
          </a:p>
        </p:txBody>
      </p:sp>
      <p:pic>
        <p:nvPicPr>
          <p:cNvPr id="21" name="Picture 20" descr="A logo with text on it&#10;&#10;AI-generated content may be incorrect.">
            <a:extLst>
              <a:ext uri="{FF2B5EF4-FFF2-40B4-BE49-F238E27FC236}">
                <a16:creationId xmlns:a16="http://schemas.microsoft.com/office/drawing/2014/main" id="{B5A239F7-6035-ED9A-A9DD-18A429EF46BD}"/>
              </a:ext>
            </a:extLst>
          </p:cNvPr>
          <p:cNvPicPr>
            <a:picLocks noChangeAspect="1"/>
          </p:cNvPicPr>
          <p:nvPr/>
        </p:nvPicPr>
        <p:blipFill>
          <a:blip r:embed="rId4"/>
          <a:stretch>
            <a:fillRect/>
          </a:stretch>
        </p:blipFill>
        <p:spPr>
          <a:xfrm>
            <a:off x="0" y="6350818"/>
            <a:ext cx="1291656" cy="507182"/>
          </a:xfrm>
          <a:prstGeom prst="rect">
            <a:avLst/>
          </a:prstGeom>
        </p:spPr>
      </p:pic>
    </p:spTree>
    <p:extLst>
      <p:ext uri="{BB962C8B-B14F-4D97-AF65-F5344CB8AC3E}">
        <p14:creationId xmlns:p14="http://schemas.microsoft.com/office/powerpoint/2010/main" val="49754833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86A73-929B-3DC7-AD0B-8DE082785D54}"/>
              </a:ext>
            </a:extLst>
          </p:cNvPr>
          <p:cNvSpPr>
            <a:spLocks noGrp="1"/>
          </p:cNvSpPr>
          <p:nvPr>
            <p:ph type="title"/>
          </p:nvPr>
        </p:nvSpPr>
        <p:spPr>
          <a:xfrm>
            <a:off x="839787" y="628576"/>
            <a:ext cx="3932237" cy="717698"/>
          </a:xfrm>
        </p:spPr>
        <p:txBody>
          <a:bodyPr anchor="b">
            <a:normAutofit/>
          </a:bodyPr>
          <a:lstStyle/>
          <a:p>
            <a:r>
              <a:rPr lang="en-US" sz="4400" b="1" dirty="0"/>
              <a:t>Introduction</a:t>
            </a:r>
          </a:p>
        </p:txBody>
      </p:sp>
      <p:pic>
        <p:nvPicPr>
          <p:cNvPr id="5" name="Content Placeholder 4" descr="A diagram of a company's company&#10;&#10;AI-generated content may be incorrect.">
            <a:extLst>
              <a:ext uri="{FF2B5EF4-FFF2-40B4-BE49-F238E27FC236}">
                <a16:creationId xmlns:a16="http://schemas.microsoft.com/office/drawing/2014/main" id="{41B980F5-08DC-E0C6-AA36-CE944B76F73F}"/>
              </a:ext>
            </a:extLst>
          </p:cNvPr>
          <p:cNvPicPr>
            <a:picLocks noGrp="1" noChangeAspect="1"/>
          </p:cNvPicPr>
          <p:nvPr>
            <p:ph idx="1"/>
          </p:nvPr>
        </p:nvPicPr>
        <p:blipFill>
          <a:blip r:embed="rId3"/>
          <a:stretch>
            <a:fillRect/>
          </a:stretch>
        </p:blipFill>
        <p:spPr>
          <a:xfrm>
            <a:off x="7644983" y="989012"/>
            <a:ext cx="4443956" cy="4288418"/>
          </a:xfrm>
          <a:noFill/>
        </p:spPr>
      </p:pic>
      <p:sp>
        <p:nvSpPr>
          <p:cNvPr id="10" name="Text Placeholder 3">
            <a:extLst>
              <a:ext uri="{FF2B5EF4-FFF2-40B4-BE49-F238E27FC236}">
                <a16:creationId xmlns:a16="http://schemas.microsoft.com/office/drawing/2014/main" id="{2E7B1A02-938F-F424-054D-60B515F15310}"/>
              </a:ext>
            </a:extLst>
          </p:cNvPr>
          <p:cNvSpPr>
            <a:spLocks noGrp="1"/>
          </p:cNvSpPr>
          <p:nvPr>
            <p:ph type="body" sz="half" idx="2"/>
          </p:nvPr>
        </p:nvSpPr>
        <p:spPr>
          <a:xfrm>
            <a:off x="839788" y="1346274"/>
            <a:ext cx="6805195" cy="2863776"/>
          </a:xfrm>
        </p:spPr>
        <p:txBody>
          <a:bodyPr>
            <a:normAutofit/>
          </a:bodyPr>
          <a:lstStyle/>
          <a:p>
            <a:pPr algn="just"/>
            <a:r>
              <a:rPr lang="en-US" sz="1800" dirty="0"/>
              <a:t>This review distinguishes AI Agents from Agentic AI through a structured taxonomy, application mapping, and analysis of their differing design philosophies and capabilities. It establishes further foundational definitions and describes AI Agents as modular systems powered by LLMs and LIMs for tax focused automation. A comparative analysis traces their evolution, mechanisms, interaction styles, and levels of autonomy. The Agentic AI’s used in research, robotics, and medical decision making. Finally, It identifies challenges like hallucination, brittleness, emergent behavior, and coordination failure, proposing solutions including ReAct, RAG, coordination layers, and causal modelling.</a:t>
            </a:r>
          </a:p>
          <a:p>
            <a:endParaRPr lang="en-US" dirty="0"/>
          </a:p>
        </p:txBody>
      </p:sp>
      <p:sp>
        <p:nvSpPr>
          <p:cNvPr id="6" name="Title 1">
            <a:extLst>
              <a:ext uri="{FF2B5EF4-FFF2-40B4-BE49-F238E27FC236}">
                <a16:creationId xmlns:a16="http://schemas.microsoft.com/office/drawing/2014/main" id="{F1A2188D-A4A9-7265-8AEC-D7C1EF27CA53}"/>
              </a:ext>
            </a:extLst>
          </p:cNvPr>
          <p:cNvSpPr txBox="1">
            <a:spLocks/>
          </p:cNvSpPr>
          <p:nvPr/>
        </p:nvSpPr>
        <p:spPr>
          <a:xfrm>
            <a:off x="7768697" y="5151290"/>
            <a:ext cx="4223434" cy="717698"/>
          </a:xfrm>
          <a:prstGeom prst="rect">
            <a:avLst/>
          </a:prstGeom>
        </p:spPr>
        <p:txBody>
          <a:bodyPr vert="horz" lIns="91440" tIns="45720" rIns="91440" bIns="45720" rtlCol="0" anchor="b">
            <a:normAutofit fontScale="92500" lnSpcReduction="2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1800" b="1" dirty="0">
                <a:latin typeface="+mn-lt"/>
              </a:rPr>
              <a:t>Fig 1. </a:t>
            </a:r>
            <a:r>
              <a:rPr lang="en-US" sz="1800" dirty="0">
                <a:latin typeface="+mn-lt"/>
              </a:rPr>
              <a:t>Mind map of this research for exploring concepts, applications and challenges of AI Agents and Agentic AI.</a:t>
            </a:r>
          </a:p>
        </p:txBody>
      </p:sp>
      <p:sp>
        <p:nvSpPr>
          <p:cNvPr id="8" name="Slide Number Placeholder 7">
            <a:extLst>
              <a:ext uri="{FF2B5EF4-FFF2-40B4-BE49-F238E27FC236}">
                <a16:creationId xmlns:a16="http://schemas.microsoft.com/office/drawing/2014/main" id="{5968B3FC-9DA9-01D4-6FA8-2F0266E099D5}"/>
              </a:ext>
            </a:extLst>
          </p:cNvPr>
          <p:cNvSpPr>
            <a:spLocks noGrp="1"/>
          </p:cNvSpPr>
          <p:nvPr>
            <p:ph type="sldNum" sz="quarter" idx="12"/>
          </p:nvPr>
        </p:nvSpPr>
        <p:spPr/>
        <p:txBody>
          <a:bodyPr/>
          <a:lstStyle/>
          <a:p>
            <a:fld id="{CC057153-B650-4DEB-B370-79DDCFDCE934}" type="slidenum">
              <a:rPr lang="en-US" smtClean="0"/>
              <a:t>2</a:t>
            </a:fld>
            <a:endParaRPr lang="en-US"/>
          </a:p>
        </p:txBody>
      </p:sp>
      <p:pic>
        <p:nvPicPr>
          <p:cNvPr id="11" name="Picture 10" descr="A logo with text on it&#10;&#10;AI-generated content may be incorrect.">
            <a:extLst>
              <a:ext uri="{FF2B5EF4-FFF2-40B4-BE49-F238E27FC236}">
                <a16:creationId xmlns:a16="http://schemas.microsoft.com/office/drawing/2014/main" id="{814BB4F1-7128-B3E0-B452-BB0EC5DEBAE9}"/>
              </a:ext>
            </a:extLst>
          </p:cNvPr>
          <p:cNvPicPr>
            <a:picLocks noChangeAspect="1"/>
          </p:cNvPicPr>
          <p:nvPr/>
        </p:nvPicPr>
        <p:blipFill>
          <a:blip r:embed="rId4"/>
          <a:stretch>
            <a:fillRect/>
          </a:stretch>
        </p:blipFill>
        <p:spPr>
          <a:xfrm>
            <a:off x="0" y="6350818"/>
            <a:ext cx="1291656" cy="507182"/>
          </a:xfrm>
          <a:prstGeom prst="rect">
            <a:avLst/>
          </a:prstGeom>
        </p:spPr>
      </p:pic>
    </p:spTree>
    <p:extLst>
      <p:ext uri="{BB962C8B-B14F-4D97-AF65-F5344CB8AC3E}">
        <p14:creationId xmlns:p14="http://schemas.microsoft.com/office/powerpoint/2010/main" val="1077468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236C2B1-CEA1-C2A6-6AEB-414FA3B8245A}"/>
              </a:ext>
            </a:extLst>
          </p:cNvPr>
          <p:cNvSpPr>
            <a:spLocks noGrp="1"/>
          </p:cNvSpPr>
          <p:nvPr>
            <p:ph type="title"/>
          </p:nvPr>
        </p:nvSpPr>
        <p:spPr>
          <a:xfrm>
            <a:off x="838200" y="158463"/>
            <a:ext cx="10515600" cy="1325563"/>
          </a:xfrm>
        </p:spPr>
        <p:txBody>
          <a:bodyPr/>
          <a:lstStyle/>
          <a:p>
            <a:r>
              <a:rPr lang="en-US" b="1" dirty="0"/>
              <a:t>AI Agents vs Agentic AI</a:t>
            </a:r>
          </a:p>
        </p:txBody>
      </p:sp>
      <p:graphicFrame>
        <p:nvGraphicFramePr>
          <p:cNvPr id="8" name="Content Placeholder 7">
            <a:extLst>
              <a:ext uri="{FF2B5EF4-FFF2-40B4-BE49-F238E27FC236}">
                <a16:creationId xmlns:a16="http://schemas.microsoft.com/office/drawing/2014/main" id="{9D3B2257-D647-2F47-14E0-FE202033D7E7}"/>
              </a:ext>
            </a:extLst>
          </p:cNvPr>
          <p:cNvGraphicFramePr>
            <a:graphicFrameLocks noGrp="1"/>
          </p:cNvGraphicFramePr>
          <p:nvPr>
            <p:ph sz="half" idx="2"/>
            <p:extLst>
              <p:ext uri="{D42A27DB-BD31-4B8C-83A1-F6EECF244321}">
                <p14:modId xmlns:p14="http://schemas.microsoft.com/office/powerpoint/2010/main" val="3170429939"/>
              </p:ext>
            </p:extLst>
          </p:nvPr>
        </p:nvGraphicFramePr>
        <p:xfrm>
          <a:off x="838200" y="1341151"/>
          <a:ext cx="5181600" cy="5009667"/>
        </p:xfrm>
        <a:graphic>
          <a:graphicData uri="http://schemas.openxmlformats.org/drawingml/2006/table">
            <a:tbl>
              <a:tblPr firstRow="1" bandRow="1">
                <a:tableStyleId>{7E9639D4-E3E2-4D34-9284-5A2195B3D0D7}</a:tableStyleId>
              </a:tblPr>
              <a:tblGrid>
                <a:gridCol w="1440306">
                  <a:extLst>
                    <a:ext uri="{9D8B030D-6E8A-4147-A177-3AD203B41FA5}">
                      <a16:colId xmlns:a16="http://schemas.microsoft.com/office/drawing/2014/main" val="2004848085"/>
                    </a:ext>
                  </a:extLst>
                </a:gridCol>
                <a:gridCol w="1783829">
                  <a:extLst>
                    <a:ext uri="{9D8B030D-6E8A-4147-A177-3AD203B41FA5}">
                      <a16:colId xmlns:a16="http://schemas.microsoft.com/office/drawing/2014/main" val="826763427"/>
                    </a:ext>
                  </a:extLst>
                </a:gridCol>
                <a:gridCol w="1957465">
                  <a:extLst>
                    <a:ext uri="{9D8B030D-6E8A-4147-A177-3AD203B41FA5}">
                      <a16:colId xmlns:a16="http://schemas.microsoft.com/office/drawing/2014/main" val="3798432483"/>
                    </a:ext>
                  </a:extLst>
                </a:gridCol>
              </a:tblGrid>
              <a:tr h="322739">
                <a:tc>
                  <a:txBody>
                    <a:bodyPr/>
                    <a:lstStyle/>
                    <a:p>
                      <a:r>
                        <a:rPr lang="en-US" sz="1200" dirty="0"/>
                        <a:t>Feature</a:t>
                      </a:r>
                    </a:p>
                  </a:txBody>
                  <a:tcPr/>
                </a:tc>
                <a:tc>
                  <a:txBody>
                    <a:bodyPr/>
                    <a:lstStyle/>
                    <a:p>
                      <a:r>
                        <a:rPr lang="en-US" sz="1200" dirty="0"/>
                        <a:t>AI Agents</a:t>
                      </a:r>
                    </a:p>
                  </a:txBody>
                  <a:tcPr/>
                </a:tc>
                <a:tc>
                  <a:txBody>
                    <a:bodyPr/>
                    <a:lstStyle/>
                    <a:p>
                      <a:r>
                        <a:rPr lang="en-US" sz="1200" dirty="0"/>
                        <a:t>Agentic AI</a:t>
                      </a:r>
                    </a:p>
                  </a:txBody>
                  <a:tcPr/>
                </a:tc>
                <a:extLst>
                  <a:ext uri="{0D108BD9-81ED-4DB2-BD59-A6C34878D82A}">
                    <a16:rowId xmlns:a16="http://schemas.microsoft.com/office/drawing/2014/main" val="675334070"/>
                  </a:ext>
                </a:extLst>
              </a:tr>
              <a:tr h="572128">
                <a:tc>
                  <a:txBody>
                    <a:bodyPr/>
                    <a:lstStyle/>
                    <a:p>
                      <a:r>
                        <a:rPr lang="en-US" sz="1200" dirty="0"/>
                        <a:t>Definition</a:t>
                      </a:r>
                    </a:p>
                  </a:txBody>
                  <a:tcPr/>
                </a:tc>
                <a:tc>
                  <a:txBody>
                    <a:bodyPr/>
                    <a:lstStyle/>
                    <a:p>
                      <a:r>
                        <a:rPr lang="en-US" sz="1200" dirty="0"/>
                        <a:t>Autonomous software programs that perform specific tasks.</a:t>
                      </a:r>
                    </a:p>
                  </a:txBody>
                  <a:tcPr/>
                </a:tc>
                <a:tc>
                  <a:txBody>
                    <a:bodyPr/>
                    <a:lstStyle/>
                    <a:p>
                      <a:r>
                        <a:rPr lang="en-US" sz="1200" dirty="0"/>
                        <a:t>Systems of multiple AI agents collaborating to achieve complex goals.</a:t>
                      </a:r>
                    </a:p>
                  </a:txBody>
                  <a:tcPr/>
                </a:tc>
                <a:extLst>
                  <a:ext uri="{0D108BD9-81ED-4DB2-BD59-A6C34878D82A}">
                    <a16:rowId xmlns:a16="http://schemas.microsoft.com/office/drawing/2014/main" val="4278274074"/>
                  </a:ext>
                </a:extLst>
              </a:tr>
              <a:tr h="1056237">
                <a:tc>
                  <a:txBody>
                    <a:bodyPr/>
                    <a:lstStyle/>
                    <a:p>
                      <a:r>
                        <a:rPr lang="en-US" sz="1200" dirty="0"/>
                        <a:t>Autonomy Level</a:t>
                      </a:r>
                    </a:p>
                  </a:txBody>
                  <a:tcPr/>
                </a:tc>
                <a:tc>
                  <a:txBody>
                    <a:bodyPr/>
                    <a:lstStyle/>
                    <a:p>
                      <a:r>
                        <a:rPr lang="en-US" sz="1200" dirty="0"/>
                        <a:t>High autonomy within specific tasks. Broad level of autonomy with the ability to manage multi-step, complex tasks and systems.</a:t>
                      </a:r>
                    </a:p>
                  </a:txBody>
                  <a:tcPr/>
                </a:tc>
                <a:tc>
                  <a:txBody>
                    <a:bodyPr/>
                    <a:lstStyle/>
                    <a:p>
                      <a:r>
                        <a:rPr lang="en-US" sz="1200" dirty="0"/>
                        <a:t>High autonomy within specific tasks. Broad level of autonomy with the ability to manage multi-step, complex tasks and systems.</a:t>
                      </a:r>
                    </a:p>
                  </a:txBody>
                  <a:tcPr/>
                </a:tc>
                <a:extLst>
                  <a:ext uri="{0D108BD9-81ED-4DB2-BD59-A6C34878D82A}">
                    <a16:rowId xmlns:a16="http://schemas.microsoft.com/office/drawing/2014/main" val="1564214017"/>
                  </a:ext>
                </a:extLst>
              </a:tr>
              <a:tr h="572128">
                <a:tc>
                  <a:txBody>
                    <a:bodyPr/>
                    <a:lstStyle/>
                    <a:p>
                      <a:r>
                        <a:rPr lang="en-US" sz="1200" dirty="0"/>
                        <a:t>Tax Complexity</a:t>
                      </a:r>
                    </a:p>
                  </a:txBody>
                  <a:tcPr/>
                </a:tc>
                <a:tc>
                  <a:txBody>
                    <a:bodyPr/>
                    <a:lstStyle/>
                    <a:p>
                      <a:r>
                        <a:rPr lang="en-US" sz="1200" dirty="0"/>
                        <a:t>Typically handle single, specific tasks.</a:t>
                      </a:r>
                    </a:p>
                  </a:txBody>
                  <a:tcPr/>
                </a:tc>
                <a:tc>
                  <a:txBody>
                    <a:bodyPr/>
                    <a:lstStyle/>
                    <a:p>
                      <a:r>
                        <a:rPr lang="en-US" sz="1200" dirty="0"/>
                        <a:t>Handle complex, multi-step tasks requiring coordination.</a:t>
                      </a:r>
                    </a:p>
                  </a:txBody>
                  <a:tcPr/>
                </a:tc>
                <a:extLst>
                  <a:ext uri="{0D108BD9-81ED-4DB2-BD59-A6C34878D82A}">
                    <a16:rowId xmlns:a16="http://schemas.microsoft.com/office/drawing/2014/main" val="2957993941"/>
                  </a:ext>
                </a:extLst>
              </a:tr>
              <a:tr h="733498">
                <a:tc>
                  <a:txBody>
                    <a:bodyPr/>
                    <a:lstStyle/>
                    <a:p>
                      <a:r>
                        <a:rPr lang="en-US" sz="1200" dirty="0"/>
                        <a:t>Collaboration</a:t>
                      </a:r>
                    </a:p>
                  </a:txBody>
                  <a:tcPr/>
                </a:tc>
                <a:tc>
                  <a:txBody>
                    <a:bodyPr/>
                    <a:lstStyle/>
                    <a:p>
                      <a:r>
                        <a:rPr lang="en-US" sz="1200" dirty="0"/>
                        <a:t>Operate independently.</a:t>
                      </a:r>
                    </a:p>
                  </a:txBody>
                  <a:tcPr/>
                </a:tc>
                <a:tc>
                  <a:txBody>
                    <a:bodyPr/>
                    <a:lstStyle/>
                    <a:p>
                      <a:r>
                        <a:rPr lang="en-US" sz="1200" dirty="0"/>
                        <a:t>Involve multi-agent information sharing, collaboration and cooperation.</a:t>
                      </a:r>
                    </a:p>
                  </a:txBody>
                  <a:tcPr/>
                </a:tc>
                <a:extLst>
                  <a:ext uri="{0D108BD9-81ED-4DB2-BD59-A6C34878D82A}">
                    <a16:rowId xmlns:a16="http://schemas.microsoft.com/office/drawing/2014/main" val="3963485263"/>
                  </a:ext>
                </a:extLst>
              </a:tr>
              <a:tr h="572128">
                <a:tc>
                  <a:txBody>
                    <a:bodyPr/>
                    <a:lstStyle/>
                    <a:p>
                      <a:r>
                        <a:rPr lang="en-US" sz="1200" dirty="0"/>
                        <a:t>Learning and Adaptation</a:t>
                      </a:r>
                    </a:p>
                  </a:txBody>
                  <a:tcPr/>
                </a:tc>
                <a:tc>
                  <a:txBody>
                    <a:bodyPr/>
                    <a:lstStyle/>
                    <a:p>
                      <a:r>
                        <a:rPr lang="en-US" sz="1200" dirty="0"/>
                        <a:t>Learn and adapt within their specific domain.</a:t>
                      </a:r>
                    </a:p>
                  </a:txBody>
                  <a:tcPr/>
                </a:tc>
                <a:tc>
                  <a:txBody>
                    <a:bodyPr/>
                    <a:lstStyle/>
                    <a:p>
                      <a:r>
                        <a:rPr lang="en-US" sz="1200" dirty="0"/>
                        <a:t>Learn and adapt across a wider range of tasks and environments.</a:t>
                      </a:r>
                    </a:p>
                  </a:txBody>
                  <a:tcPr/>
                </a:tc>
                <a:extLst>
                  <a:ext uri="{0D108BD9-81ED-4DB2-BD59-A6C34878D82A}">
                    <a16:rowId xmlns:a16="http://schemas.microsoft.com/office/drawing/2014/main" val="697915225"/>
                  </a:ext>
                </a:extLst>
              </a:tr>
              <a:tr h="755374">
                <a:tc>
                  <a:txBody>
                    <a:bodyPr/>
                    <a:lstStyle/>
                    <a:p>
                      <a:r>
                        <a:rPr lang="en-US" sz="1200" dirty="0"/>
                        <a:t>Applications</a:t>
                      </a:r>
                    </a:p>
                  </a:txBody>
                  <a:tcPr/>
                </a:tc>
                <a:tc>
                  <a:txBody>
                    <a:bodyPr/>
                    <a:lstStyle/>
                    <a:p>
                      <a:r>
                        <a:rPr lang="en-US" sz="1200" dirty="0"/>
                        <a:t>Customer service chatbots, virtual assistants, automated workflows.</a:t>
                      </a:r>
                    </a:p>
                  </a:txBody>
                  <a:tcPr/>
                </a:tc>
                <a:tc>
                  <a:txBody>
                    <a:bodyPr/>
                    <a:lstStyle/>
                    <a:p>
                      <a:r>
                        <a:rPr lang="en-US" sz="1200" dirty="0"/>
                        <a:t>Supply chain management, business process optimization, virtual project managers.</a:t>
                      </a:r>
                    </a:p>
                  </a:txBody>
                  <a:tcPr/>
                </a:tc>
                <a:extLst>
                  <a:ext uri="{0D108BD9-81ED-4DB2-BD59-A6C34878D82A}">
                    <a16:rowId xmlns:a16="http://schemas.microsoft.com/office/drawing/2014/main" val="2515487498"/>
                  </a:ext>
                </a:extLst>
              </a:tr>
            </a:tbl>
          </a:graphicData>
        </a:graphic>
      </p:graphicFrame>
      <p:pic>
        <p:nvPicPr>
          <p:cNvPr id="11" name="Content Placeholder 10" descr="A diagram of a weather forecast and a remote control&#10;&#10;AI-generated content may be incorrect.">
            <a:extLst>
              <a:ext uri="{FF2B5EF4-FFF2-40B4-BE49-F238E27FC236}">
                <a16:creationId xmlns:a16="http://schemas.microsoft.com/office/drawing/2014/main" id="{87C0879C-9F52-0508-01C7-D02577E929F3}"/>
              </a:ext>
            </a:extLst>
          </p:cNvPr>
          <p:cNvPicPr>
            <a:picLocks noGrp="1" noChangeAspect="1"/>
          </p:cNvPicPr>
          <p:nvPr>
            <p:ph sz="half" idx="1"/>
          </p:nvPr>
        </p:nvPicPr>
        <p:blipFill>
          <a:blip r:embed="rId3"/>
          <a:stretch>
            <a:fillRect/>
          </a:stretch>
        </p:blipFill>
        <p:spPr>
          <a:xfrm>
            <a:off x="6096000" y="1484026"/>
            <a:ext cx="5694619" cy="3987383"/>
          </a:xfrm>
        </p:spPr>
      </p:pic>
      <p:sp>
        <p:nvSpPr>
          <p:cNvPr id="13" name="Title 1">
            <a:extLst>
              <a:ext uri="{FF2B5EF4-FFF2-40B4-BE49-F238E27FC236}">
                <a16:creationId xmlns:a16="http://schemas.microsoft.com/office/drawing/2014/main" id="{EF93EDFB-7869-6C03-5A67-23D6E43C4965}"/>
              </a:ext>
            </a:extLst>
          </p:cNvPr>
          <p:cNvSpPr txBox="1">
            <a:spLocks/>
          </p:cNvSpPr>
          <p:nvPr/>
        </p:nvSpPr>
        <p:spPr>
          <a:xfrm>
            <a:off x="6906591" y="5112560"/>
            <a:ext cx="5465291" cy="71769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1400" b="1" dirty="0">
                <a:latin typeface="+mn-lt"/>
              </a:rPr>
              <a:t>Fig 2. </a:t>
            </a:r>
            <a:r>
              <a:rPr lang="en-US" sz="1400" dirty="0">
                <a:latin typeface="+mn-lt"/>
              </a:rPr>
              <a:t>Comparative illustration of AI Agent versus Agentic AI.</a:t>
            </a:r>
          </a:p>
        </p:txBody>
      </p:sp>
      <p:pic>
        <p:nvPicPr>
          <p:cNvPr id="14" name="Picture 13" descr="A logo with text on it&#10;&#10;AI-generated content may be incorrect.">
            <a:extLst>
              <a:ext uri="{FF2B5EF4-FFF2-40B4-BE49-F238E27FC236}">
                <a16:creationId xmlns:a16="http://schemas.microsoft.com/office/drawing/2014/main" id="{51FE64CB-C47D-3377-15EE-630043B817CE}"/>
              </a:ext>
            </a:extLst>
          </p:cNvPr>
          <p:cNvPicPr>
            <a:picLocks noChangeAspect="1"/>
          </p:cNvPicPr>
          <p:nvPr/>
        </p:nvPicPr>
        <p:blipFill>
          <a:blip r:embed="rId4"/>
          <a:stretch>
            <a:fillRect/>
          </a:stretch>
        </p:blipFill>
        <p:spPr>
          <a:xfrm>
            <a:off x="0" y="6350818"/>
            <a:ext cx="1291656" cy="507182"/>
          </a:xfrm>
          <a:prstGeom prst="rect">
            <a:avLst/>
          </a:prstGeom>
        </p:spPr>
      </p:pic>
      <p:sp>
        <p:nvSpPr>
          <p:cNvPr id="15" name="Slide Number Placeholder 14">
            <a:extLst>
              <a:ext uri="{FF2B5EF4-FFF2-40B4-BE49-F238E27FC236}">
                <a16:creationId xmlns:a16="http://schemas.microsoft.com/office/drawing/2014/main" id="{568F7AA4-A35F-C0AD-5181-3C50845C673F}"/>
              </a:ext>
            </a:extLst>
          </p:cNvPr>
          <p:cNvSpPr>
            <a:spLocks noGrp="1"/>
          </p:cNvSpPr>
          <p:nvPr>
            <p:ph type="sldNum" sz="quarter" idx="12"/>
          </p:nvPr>
        </p:nvSpPr>
        <p:spPr/>
        <p:txBody>
          <a:bodyPr/>
          <a:lstStyle/>
          <a:p>
            <a:fld id="{CC057153-B650-4DEB-B370-79DDCFDCE934}" type="slidenum">
              <a:rPr lang="en-US" smtClean="0"/>
              <a:t>3</a:t>
            </a:fld>
            <a:endParaRPr lang="en-US"/>
          </a:p>
        </p:txBody>
      </p:sp>
    </p:spTree>
    <p:extLst>
      <p:ext uri="{BB962C8B-B14F-4D97-AF65-F5344CB8AC3E}">
        <p14:creationId xmlns:p14="http://schemas.microsoft.com/office/powerpoint/2010/main" val="2478406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5D2B-6CEF-51FC-3629-4D47F9BFE72A}"/>
              </a:ext>
            </a:extLst>
          </p:cNvPr>
          <p:cNvSpPr>
            <a:spLocks noGrp="1"/>
          </p:cNvSpPr>
          <p:nvPr>
            <p:ph type="title"/>
          </p:nvPr>
        </p:nvSpPr>
        <p:spPr>
          <a:xfrm>
            <a:off x="838200" y="365125"/>
            <a:ext cx="10515600" cy="1325563"/>
          </a:xfrm>
        </p:spPr>
        <p:txBody>
          <a:bodyPr anchor="ctr">
            <a:normAutofit/>
          </a:bodyPr>
          <a:lstStyle/>
          <a:p>
            <a:r>
              <a:rPr lang="en-US" b="1" dirty="0"/>
              <a:t>Architectural Evolution and Conceptual Taxonomy – </a:t>
            </a:r>
            <a:r>
              <a:rPr lang="en-US" b="1" dirty="0">
                <a:solidFill>
                  <a:schemeClr val="accent2">
                    <a:lumMod val="60000"/>
                    <a:lumOff val="40000"/>
                  </a:schemeClr>
                </a:solidFill>
              </a:rPr>
              <a:t>AI Agents </a:t>
            </a:r>
            <a:r>
              <a:rPr lang="en-US" b="1" dirty="0"/>
              <a:t>vs </a:t>
            </a:r>
            <a:r>
              <a:rPr lang="en-US" b="1" dirty="0">
                <a:solidFill>
                  <a:schemeClr val="accent6">
                    <a:lumMod val="60000"/>
                    <a:lumOff val="40000"/>
                  </a:schemeClr>
                </a:solidFill>
              </a:rPr>
              <a:t>Agentic AI</a:t>
            </a:r>
          </a:p>
        </p:txBody>
      </p:sp>
      <p:pic>
        <p:nvPicPr>
          <p:cNvPr id="9" name="Content Placeholder 8" descr="A diagram of a diagram of a structure&#10;&#10;AI-generated content may be incorrect.">
            <a:extLst>
              <a:ext uri="{FF2B5EF4-FFF2-40B4-BE49-F238E27FC236}">
                <a16:creationId xmlns:a16="http://schemas.microsoft.com/office/drawing/2014/main" id="{219C3E5B-9AA5-09DF-A9C6-FBB5F23F55C3}"/>
              </a:ext>
            </a:extLst>
          </p:cNvPr>
          <p:cNvPicPr>
            <a:picLocks noGrp="1" noChangeAspect="1"/>
          </p:cNvPicPr>
          <p:nvPr>
            <p:ph sz="half" idx="2"/>
          </p:nvPr>
        </p:nvPicPr>
        <p:blipFill>
          <a:blip r:embed="rId3"/>
          <a:stretch>
            <a:fillRect/>
          </a:stretch>
        </p:blipFill>
        <p:spPr>
          <a:xfrm>
            <a:off x="6172202" y="2057400"/>
            <a:ext cx="5701931" cy="3264694"/>
          </a:xfrm>
        </p:spPr>
      </p:pic>
      <p:sp>
        <p:nvSpPr>
          <p:cNvPr id="7" name="Content Placeholder 6">
            <a:extLst>
              <a:ext uri="{FF2B5EF4-FFF2-40B4-BE49-F238E27FC236}">
                <a16:creationId xmlns:a16="http://schemas.microsoft.com/office/drawing/2014/main" id="{34FDA1D0-727A-98E0-F981-BCA2763619C0}"/>
              </a:ext>
            </a:extLst>
          </p:cNvPr>
          <p:cNvSpPr>
            <a:spLocks noGrp="1"/>
          </p:cNvSpPr>
          <p:nvPr>
            <p:ph sz="half" idx="1"/>
          </p:nvPr>
        </p:nvSpPr>
        <p:spPr>
          <a:xfrm>
            <a:off x="838200" y="1825625"/>
            <a:ext cx="5181599" cy="4351338"/>
          </a:xfrm>
        </p:spPr>
        <p:txBody>
          <a:bodyPr>
            <a:normAutofit/>
          </a:bodyPr>
          <a:lstStyle/>
          <a:p>
            <a:r>
              <a:rPr lang="en-US" sz="2400" b="1" dirty="0">
                <a:solidFill>
                  <a:schemeClr val="accent2">
                    <a:lumMod val="60000"/>
                    <a:lumOff val="40000"/>
                  </a:schemeClr>
                </a:solidFill>
              </a:rPr>
              <a:t>AI Agents</a:t>
            </a:r>
            <a:endParaRPr lang="en-US" sz="2000" dirty="0"/>
          </a:p>
          <a:p>
            <a:pPr lvl="1"/>
            <a:r>
              <a:rPr lang="en-US" sz="2000" dirty="0"/>
              <a:t>Perception</a:t>
            </a:r>
          </a:p>
          <a:p>
            <a:pPr lvl="1"/>
            <a:r>
              <a:rPr lang="en-US" sz="2000" dirty="0"/>
              <a:t>Basic Learning and Adaptation.</a:t>
            </a:r>
          </a:p>
          <a:p>
            <a:pPr lvl="1"/>
            <a:r>
              <a:rPr lang="en-US" sz="2000" dirty="0"/>
              <a:t>Action Selection and Execution Module. </a:t>
            </a:r>
          </a:p>
          <a:p>
            <a:pPr marL="457200" lvl="1" indent="0">
              <a:buNone/>
            </a:pPr>
            <a:endParaRPr lang="en-US" dirty="0"/>
          </a:p>
          <a:p>
            <a:r>
              <a:rPr lang="en-US" sz="2400" b="1" dirty="0">
                <a:solidFill>
                  <a:schemeClr val="accent6">
                    <a:lumMod val="60000"/>
                    <a:lumOff val="40000"/>
                  </a:schemeClr>
                </a:solidFill>
              </a:rPr>
              <a:t>Agentic AI</a:t>
            </a:r>
          </a:p>
          <a:p>
            <a:pPr lvl="1"/>
            <a:r>
              <a:rPr lang="en-US" sz="2000" dirty="0"/>
              <a:t>Specialized Agents.</a:t>
            </a:r>
          </a:p>
          <a:p>
            <a:pPr lvl="1"/>
            <a:r>
              <a:rPr lang="en-US" sz="2000" dirty="0"/>
              <a:t>Advanced Reasoning and Planning.</a:t>
            </a:r>
          </a:p>
          <a:p>
            <a:pPr lvl="1"/>
            <a:r>
              <a:rPr lang="en-US" sz="2000" dirty="0"/>
              <a:t>Persistent Memory Architectures.</a:t>
            </a:r>
          </a:p>
          <a:p>
            <a:pPr lvl="1"/>
            <a:r>
              <a:rPr lang="en-US" sz="2000" dirty="0"/>
              <a:t>Orchestration.</a:t>
            </a:r>
          </a:p>
          <a:p>
            <a:pPr lvl="1"/>
            <a:endParaRPr lang="en-US" dirty="0"/>
          </a:p>
          <a:p>
            <a:pPr lvl="1"/>
            <a:endParaRPr lang="en-US" dirty="0"/>
          </a:p>
          <a:p>
            <a:endParaRPr lang="en-US" dirty="0"/>
          </a:p>
        </p:txBody>
      </p:sp>
      <p:sp>
        <p:nvSpPr>
          <p:cNvPr id="11" name="Title 1">
            <a:extLst>
              <a:ext uri="{FF2B5EF4-FFF2-40B4-BE49-F238E27FC236}">
                <a16:creationId xmlns:a16="http://schemas.microsoft.com/office/drawing/2014/main" id="{78453AA9-C487-89D2-EF45-2F3EEF1E4B74}"/>
              </a:ext>
            </a:extLst>
          </p:cNvPr>
          <p:cNvSpPr txBox="1">
            <a:spLocks/>
          </p:cNvSpPr>
          <p:nvPr/>
        </p:nvSpPr>
        <p:spPr>
          <a:xfrm>
            <a:off x="6408842" y="5329957"/>
            <a:ext cx="5465291" cy="71769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1400" b="1" dirty="0">
                <a:latin typeface="+mn-lt"/>
              </a:rPr>
              <a:t>Fig 3. </a:t>
            </a:r>
            <a:r>
              <a:rPr lang="en-US" sz="1400" dirty="0">
                <a:latin typeface="+mn-lt"/>
              </a:rPr>
              <a:t>Illustrating architectural evolution from traditional AI Agents to modern Agentic AI systems.</a:t>
            </a:r>
          </a:p>
        </p:txBody>
      </p:sp>
      <p:sp>
        <p:nvSpPr>
          <p:cNvPr id="21" name="Slide Number Placeholder 20">
            <a:extLst>
              <a:ext uri="{FF2B5EF4-FFF2-40B4-BE49-F238E27FC236}">
                <a16:creationId xmlns:a16="http://schemas.microsoft.com/office/drawing/2014/main" id="{EF462336-7A10-7346-3542-0CA386907D11}"/>
              </a:ext>
            </a:extLst>
          </p:cNvPr>
          <p:cNvSpPr>
            <a:spLocks noGrp="1"/>
          </p:cNvSpPr>
          <p:nvPr>
            <p:ph type="sldNum" sz="quarter" idx="12"/>
          </p:nvPr>
        </p:nvSpPr>
        <p:spPr/>
        <p:txBody>
          <a:bodyPr/>
          <a:lstStyle/>
          <a:p>
            <a:fld id="{CC057153-B650-4DEB-B370-79DDCFDCE934}" type="slidenum">
              <a:rPr lang="en-US" smtClean="0"/>
              <a:t>4</a:t>
            </a:fld>
            <a:endParaRPr lang="en-US"/>
          </a:p>
        </p:txBody>
      </p:sp>
      <p:pic>
        <p:nvPicPr>
          <p:cNvPr id="22" name="Picture 21" descr="A logo with text on it&#10;&#10;AI-generated content may be incorrect.">
            <a:extLst>
              <a:ext uri="{FF2B5EF4-FFF2-40B4-BE49-F238E27FC236}">
                <a16:creationId xmlns:a16="http://schemas.microsoft.com/office/drawing/2014/main" id="{5C99B051-14E1-5479-B2AF-F346A9B47E27}"/>
              </a:ext>
            </a:extLst>
          </p:cNvPr>
          <p:cNvPicPr>
            <a:picLocks noChangeAspect="1"/>
          </p:cNvPicPr>
          <p:nvPr/>
        </p:nvPicPr>
        <p:blipFill>
          <a:blip r:embed="rId4"/>
          <a:stretch>
            <a:fillRect/>
          </a:stretch>
        </p:blipFill>
        <p:spPr>
          <a:xfrm>
            <a:off x="0" y="6350818"/>
            <a:ext cx="1291656" cy="507182"/>
          </a:xfrm>
          <a:prstGeom prst="rect">
            <a:avLst/>
          </a:prstGeom>
        </p:spPr>
      </p:pic>
    </p:spTree>
    <p:extLst>
      <p:ext uri="{BB962C8B-B14F-4D97-AF65-F5344CB8AC3E}">
        <p14:creationId xmlns:p14="http://schemas.microsoft.com/office/powerpoint/2010/main" val="2233497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212BA-4F27-A7F5-0FB8-90C11945BED2}"/>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D47047D3-62EA-3ACA-A489-6F87E5758E25}"/>
              </a:ext>
            </a:extLst>
          </p:cNvPr>
          <p:cNvSpPr>
            <a:spLocks noGrp="1"/>
          </p:cNvSpPr>
          <p:nvPr>
            <p:ph type="title"/>
          </p:nvPr>
        </p:nvSpPr>
        <p:spPr>
          <a:xfrm>
            <a:off x="838200" y="365125"/>
            <a:ext cx="10515600" cy="1325563"/>
          </a:xfrm>
        </p:spPr>
        <p:txBody>
          <a:bodyPr/>
          <a:lstStyle/>
          <a:p>
            <a:r>
              <a:rPr lang="en-US" b="1" dirty="0"/>
              <a:t>Applications of AI Agents vs Agentic AI</a:t>
            </a:r>
          </a:p>
        </p:txBody>
      </p:sp>
      <p:sp>
        <p:nvSpPr>
          <p:cNvPr id="13" name="Title 1">
            <a:extLst>
              <a:ext uri="{FF2B5EF4-FFF2-40B4-BE49-F238E27FC236}">
                <a16:creationId xmlns:a16="http://schemas.microsoft.com/office/drawing/2014/main" id="{C5319163-1558-3960-0A24-1A99BBDDC18C}"/>
              </a:ext>
            </a:extLst>
          </p:cNvPr>
          <p:cNvSpPr txBox="1">
            <a:spLocks/>
          </p:cNvSpPr>
          <p:nvPr/>
        </p:nvSpPr>
        <p:spPr>
          <a:xfrm>
            <a:off x="5831175" y="5723293"/>
            <a:ext cx="3912432" cy="45955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1400" b="1" dirty="0">
                <a:latin typeface="+mn-lt"/>
              </a:rPr>
              <a:t>Fig 5.  </a:t>
            </a:r>
            <a:r>
              <a:rPr lang="en-US" sz="1400" dirty="0">
                <a:latin typeface="+mn-lt"/>
              </a:rPr>
              <a:t>Applications of Agentic AI across domains.</a:t>
            </a:r>
          </a:p>
        </p:txBody>
      </p:sp>
      <p:pic>
        <p:nvPicPr>
          <p:cNvPr id="12" name="Content Placeholder 11" descr="A person and person using a computer&#10;&#10;AI-generated content may be incorrect.">
            <a:extLst>
              <a:ext uri="{FF2B5EF4-FFF2-40B4-BE49-F238E27FC236}">
                <a16:creationId xmlns:a16="http://schemas.microsoft.com/office/drawing/2014/main" id="{3C56A941-8718-666C-3BC0-1C9BEAE0F008}"/>
              </a:ext>
            </a:extLst>
          </p:cNvPr>
          <p:cNvPicPr>
            <a:picLocks noGrp="1" noChangeAspect="1"/>
          </p:cNvPicPr>
          <p:nvPr>
            <p:ph sz="half" idx="1"/>
          </p:nvPr>
        </p:nvPicPr>
        <p:blipFill>
          <a:blip r:embed="rId3"/>
          <a:stretch>
            <a:fillRect/>
          </a:stretch>
        </p:blipFill>
        <p:spPr>
          <a:xfrm>
            <a:off x="1291656" y="1285887"/>
            <a:ext cx="3523938" cy="4612810"/>
          </a:xfrm>
        </p:spPr>
      </p:pic>
      <p:pic>
        <p:nvPicPr>
          <p:cNvPr id="15" name="Content Placeholder 14" descr="A collage of different stages of a project&#10;&#10;AI-generated content may be incorrect.">
            <a:extLst>
              <a:ext uri="{FF2B5EF4-FFF2-40B4-BE49-F238E27FC236}">
                <a16:creationId xmlns:a16="http://schemas.microsoft.com/office/drawing/2014/main" id="{A2924DF1-F8B6-D7EF-10A1-FA8F4B91937B}"/>
              </a:ext>
            </a:extLst>
          </p:cNvPr>
          <p:cNvPicPr>
            <a:picLocks noGrp="1" noChangeAspect="1"/>
          </p:cNvPicPr>
          <p:nvPr>
            <p:ph sz="half" idx="2"/>
          </p:nvPr>
        </p:nvPicPr>
        <p:blipFill>
          <a:blip r:embed="rId4"/>
          <a:stretch>
            <a:fillRect/>
          </a:stretch>
        </p:blipFill>
        <p:spPr>
          <a:xfrm>
            <a:off x="5831175" y="1285887"/>
            <a:ext cx="5889558" cy="4410376"/>
          </a:xfrm>
        </p:spPr>
      </p:pic>
      <p:sp>
        <p:nvSpPr>
          <p:cNvPr id="17" name="Title 1">
            <a:extLst>
              <a:ext uri="{FF2B5EF4-FFF2-40B4-BE49-F238E27FC236}">
                <a16:creationId xmlns:a16="http://schemas.microsoft.com/office/drawing/2014/main" id="{6C99F956-CB4D-DBE2-F44B-A466D53151D6}"/>
              </a:ext>
            </a:extLst>
          </p:cNvPr>
          <p:cNvSpPr txBox="1">
            <a:spLocks/>
          </p:cNvSpPr>
          <p:nvPr/>
        </p:nvSpPr>
        <p:spPr>
          <a:xfrm>
            <a:off x="1100527" y="5925213"/>
            <a:ext cx="3523938" cy="51526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1400" b="1" dirty="0">
                <a:latin typeface="+mn-lt"/>
              </a:rPr>
              <a:t>Fig 4. </a:t>
            </a:r>
            <a:r>
              <a:rPr lang="en-US" sz="1400" dirty="0">
                <a:latin typeface="+mn-lt"/>
              </a:rPr>
              <a:t>Applications of AI Agents in enterprise settings.</a:t>
            </a:r>
          </a:p>
        </p:txBody>
      </p:sp>
      <p:sp>
        <p:nvSpPr>
          <p:cNvPr id="18" name="Slide Number Placeholder 17">
            <a:extLst>
              <a:ext uri="{FF2B5EF4-FFF2-40B4-BE49-F238E27FC236}">
                <a16:creationId xmlns:a16="http://schemas.microsoft.com/office/drawing/2014/main" id="{D859A8CC-2F4C-8B8A-39DD-1D2F48791461}"/>
              </a:ext>
            </a:extLst>
          </p:cNvPr>
          <p:cNvSpPr>
            <a:spLocks noGrp="1"/>
          </p:cNvSpPr>
          <p:nvPr>
            <p:ph type="sldNum" sz="quarter" idx="12"/>
          </p:nvPr>
        </p:nvSpPr>
        <p:spPr/>
        <p:txBody>
          <a:bodyPr/>
          <a:lstStyle/>
          <a:p>
            <a:fld id="{CC057153-B650-4DEB-B370-79DDCFDCE934}" type="slidenum">
              <a:rPr lang="en-US" smtClean="0"/>
              <a:t>5</a:t>
            </a:fld>
            <a:endParaRPr lang="en-US"/>
          </a:p>
        </p:txBody>
      </p:sp>
      <p:pic>
        <p:nvPicPr>
          <p:cNvPr id="19" name="Picture 18" descr="A logo with text on it&#10;&#10;AI-generated content may be incorrect.">
            <a:extLst>
              <a:ext uri="{FF2B5EF4-FFF2-40B4-BE49-F238E27FC236}">
                <a16:creationId xmlns:a16="http://schemas.microsoft.com/office/drawing/2014/main" id="{B68F5499-F921-7F09-1CBE-C6FF3603B4CC}"/>
              </a:ext>
            </a:extLst>
          </p:cNvPr>
          <p:cNvPicPr>
            <a:picLocks noChangeAspect="1"/>
          </p:cNvPicPr>
          <p:nvPr/>
        </p:nvPicPr>
        <p:blipFill>
          <a:blip r:embed="rId5"/>
          <a:stretch>
            <a:fillRect/>
          </a:stretch>
        </p:blipFill>
        <p:spPr>
          <a:xfrm>
            <a:off x="0" y="6350818"/>
            <a:ext cx="1291656" cy="507182"/>
          </a:xfrm>
          <a:prstGeom prst="rect">
            <a:avLst/>
          </a:prstGeom>
        </p:spPr>
      </p:pic>
    </p:spTree>
    <p:extLst>
      <p:ext uri="{BB962C8B-B14F-4D97-AF65-F5344CB8AC3E}">
        <p14:creationId xmlns:p14="http://schemas.microsoft.com/office/powerpoint/2010/main" val="1377302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391E8-1341-6A6B-D414-B1F02A4BB0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85F91-1B25-47CC-8C23-FB032E80AD55}"/>
              </a:ext>
            </a:extLst>
          </p:cNvPr>
          <p:cNvSpPr>
            <a:spLocks noGrp="1"/>
          </p:cNvSpPr>
          <p:nvPr>
            <p:ph type="title"/>
          </p:nvPr>
        </p:nvSpPr>
        <p:spPr>
          <a:xfrm>
            <a:off x="838200" y="365125"/>
            <a:ext cx="10515600" cy="1325563"/>
          </a:xfrm>
        </p:spPr>
        <p:txBody>
          <a:bodyPr anchor="ctr">
            <a:normAutofit/>
          </a:bodyPr>
          <a:lstStyle/>
          <a:p>
            <a:r>
              <a:rPr lang="en-US" b="1" dirty="0"/>
              <a:t>Challenges and Future Solutions</a:t>
            </a:r>
          </a:p>
        </p:txBody>
      </p:sp>
      <p:sp>
        <p:nvSpPr>
          <p:cNvPr id="7" name="Content Placeholder 6">
            <a:extLst>
              <a:ext uri="{FF2B5EF4-FFF2-40B4-BE49-F238E27FC236}">
                <a16:creationId xmlns:a16="http://schemas.microsoft.com/office/drawing/2014/main" id="{AAC94CC6-DF8F-1286-35EA-E62FC5323213}"/>
              </a:ext>
            </a:extLst>
          </p:cNvPr>
          <p:cNvSpPr>
            <a:spLocks noGrp="1"/>
          </p:cNvSpPr>
          <p:nvPr>
            <p:ph sz="half" idx="1"/>
          </p:nvPr>
        </p:nvSpPr>
        <p:spPr>
          <a:xfrm>
            <a:off x="914400" y="1690688"/>
            <a:ext cx="5181600" cy="4351338"/>
          </a:xfrm>
        </p:spPr>
        <p:txBody>
          <a:bodyPr>
            <a:normAutofit/>
          </a:bodyPr>
          <a:lstStyle/>
          <a:p>
            <a:r>
              <a:rPr lang="en-US" sz="2400" b="1" dirty="0"/>
              <a:t>Challenges of AI Agent:</a:t>
            </a:r>
          </a:p>
          <a:p>
            <a:pPr lvl="1"/>
            <a:r>
              <a:rPr lang="en-US" sz="2000" dirty="0"/>
              <a:t>Lack of casual understanding.</a:t>
            </a:r>
          </a:p>
          <a:p>
            <a:pPr lvl="1"/>
            <a:r>
              <a:rPr lang="en-US" sz="2000" dirty="0"/>
              <a:t>Inherent limitation from LLMs.</a:t>
            </a:r>
          </a:p>
          <a:p>
            <a:pPr lvl="1"/>
            <a:r>
              <a:rPr lang="en-US" sz="2000" dirty="0"/>
              <a:t>Incomplete agentic properties.</a:t>
            </a:r>
          </a:p>
          <a:p>
            <a:pPr lvl="1"/>
            <a:r>
              <a:rPr lang="en-US" sz="2000" dirty="0"/>
              <a:t>Reliability and safety concerns.</a:t>
            </a:r>
          </a:p>
          <a:p>
            <a:pPr lvl="1"/>
            <a:endParaRPr lang="en-US" sz="2000" dirty="0"/>
          </a:p>
          <a:p>
            <a:pPr marL="344488" lvl="1" indent="-330200"/>
            <a:r>
              <a:rPr lang="en-US" b="1" dirty="0"/>
              <a:t>Challenges of Agentic AI:</a:t>
            </a:r>
          </a:p>
          <a:p>
            <a:pPr marL="685800" lvl="2"/>
            <a:r>
              <a:rPr lang="en-US" dirty="0"/>
              <a:t>Communication and Coordination Bottlenecks.</a:t>
            </a:r>
          </a:p>
          <a:p>
            <a:pPr marL="685800" lvl="2"/>
            <a:r>
              <a:rPr lang="en-US" dirty="0"/>
              <a:t>Emergent behavior and predictability.</a:t>
            </a:r>
          </a:p>
          <a:p>
            <a:pPr marL="685800" lvl="2"/>
            <a:r>
              <a:rPr lang="en-US" dirty="0"/>
              <a:t>Scalability and Debugging complexity.</a:t>
            </a:r>
          </a:p>
          <a:p>
            <a:pPr marL="685800" lvl="2"/>
            <a:r>
              <a:rPr lang="en-US" dirty="0"/>
              <a:t>Security Risks</a:t>
            </a:r>
          </a:p>
        </p:txBody>
      </p:sp>
      <p:sp>
        <p:nvSpPr>
          <p:cNvPr id="4" name="Content Placeholder 3">
            <a:extLst>
              <a:ext uri="{FF2B5EF4-FFF2-40B4-BE49-F238E27FC236}">
                <a16:creationId xmlns:a16="http://schemas.microsoft.com/office/drawing/2014/main" id="{B37F667A-A259-4B97-03E2-EBD0E8C70DCF}"/>
              </a:ext>
            </a:extLst>
          </p:cNvPr>
          <p:cNvSpPr>
            <a:spLocks noGrp="1"/>
          </p:cNvSpPr>
          <p:nvPr>
            <p:ph sz="half" idx="2"/>
          </p:nvPr>
        </p:nvSpPr>
        <p:spPr>
          <a:xfrm>
            <a:off x="6655618" y="1690688"/>
            <a:ext cx="5181600" cy="4351338"/>
          </a:xfrm>
        </p:spPr>
        <p:txBody>
          <a:bodyPr/>
          <a:lstStyle/>
          <a:p>
            <a:r>
              <a:rPr lang="en-US" sz="2400" b="1" dirty="0"/>
              <a:t>Future Solutions:</a:t>
            </a:r>
          </a:p>
          <a:p>
            <a:pPr lvl="1"/>
            <a:r>
              <a:rPr lang="en-US" sz="2000" dirty="0"/>
              <a:t>Retrieval-Augmented Generation (RAG).</a:t>
            </a:r>
          </a:p>
          <a:p>
            <a:pPr lvl="1"/>
            <a:r>
              <a:rPr lang="en-US" sz="2000" dirty="0"/>
              <a:t>Memory Architectures.</a:t>
            </a:r>
          </a:p>
          <a:p>
            <a:pPr lvl="1"/>
            <a:r>
              <a:rPr lang="en-US" sz="2000" dirty="0"/>
              <a:t>Reflexive and Self-Critique Mechanisms.</a:t>
            </a:r>
          </a:p>
          <a:p>
            <a:pPr lvl="1"/>
            <a:r>
              <a:rPr lang="en-US" sz="2000" dirty="0"/>
              <a:t>Governance-Aware Architectures.</a:t>
            </a:r>
          </a:p>
          <a:p>
            <a:pPr lvl="1"/>
            <a:endParaRPr lang="en-US" dirty="0"/>
          </a:p>
        </p:txBody>
      </p:sp>
      <p:sp>
        <p:nvSpPr>
          <p:cNvPr id="5" name="Slide Number Placeholder 4">
            <a:extLst>
              <a:ext uri="{FF2B5EF4-FFF2-40B4-BE49-F238E27FC236}">
                <a16:creationId xmlns:a16="http://schemas.microsoft.com/office/drawing/2014/main" id="{C74C84DE-8E50-F0D9-64CB-7D48DEF930A5}"/>
              </a:ext>
            </a:extLst>
          </p:cNvPr>
          <p:cNvSpPr>
            <a:spLocks noGrp="1"/>
          </p:cNvSpPr>
          <p:nvPr>
            <p:ph type="sldNum" sz="quarter" idx="12"/>
          </p:nvPr>
        </p:nvSpPr>
        <p:spPr/>
        <p:txBody>
          <a:bodyPr/>
          <a:lstStyle/>
          <a:p>
            <a:fld id="{CC057153-B650-4DEB-B370-79DDCFDCE934}" type="slidenum">
              <a:rPr lang="en-US" smtClean="0"/>
              <a:t>6</a:t>
            </a:fld>
            <a:endParaRPr lang="en-US"/>
          </a:p>
        </p:txBody>
      </p:sp>
      <p:pic>
        <p:nvPicPr>
          <p:cNvPr id="6" name="Picture 5" descr="A logo with text on it&#10;&#10;AI-generated content may be incorrect.">
            <a:extLst>
              <a:ext uri="{FF2B5EF4-FFF2-40B4-BE49-F238E27FC236}">
                <a16:creationId xmlns:a16="http://schemas.microsoft.com/office/drawing/2014/main" id="{3F595F2C-9278-86B2-4CF5-C58CA2524744}"/>
              </a:ext>
            </a:extLst>
          </p:cNvPr>
          <p:cNvPicPr>
            <a:picLocks noChangeAspect="1"/>
          </p:cNvPicPr>
          <p:nvPr/>
        </p:nvPicPr>
        <p:blipFill>
          <a:blip r:embed="rId3"/>
          <a:stretch>
            <a:fillRect/>
          </a:stretch>
        </p:blipFill>
        <p:spPr>
          <a:xfrm>
            <a:off x="0" y="6350818"/>
            <a:ext cx="1291656" cy="507182"/>
          </a:xfrm>
          <a:prstGeom prst="rect">
            <a:avLst/>
          </a:prstGeom>
        </p:spPr>
      </p:pic>
    </p:spTree>
    <p:extLst>
      <p:ext uri="{BB962C8B-B14F-4D97-AF65-F5344CB8AC3E}">
        <p14:creationId xmlns:p14="http://schemas.microsoft.com/office/powerpoint/2010/main" val="1779796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A4D9F-61AB-1A5B-B2A9-0FDB92C42AE8}"/>
              </a:ext>
            </a:extLst>
          </p:cNvPr>
          <p:cNvSpPr>
            <a:spLocks noGrp="1"/>
          </p:cNvSpPr>
          <p:nvPr>
            <p:ph type="title"/>
          </p:nvPr>
        </p:nvSpPr>
        <p:spPr/>
        <p:txBody>
          <a:bodyPr/>
          <a:lstStyle/>
          <a:p>
            <a:pPr algn="ctr"/>
            <a:r>
              <a:rPr lang="en-US" b="1" u="sng" dirty="0"/>
              <a:t>Questions</a:t>
            </a:r>
          </a:p>
        </p:txBody>
      </p:sp>
      <p:sp>
        <p:nvSpPr>
          <p:cNvPr id="3" name="Content Placeholder 2">
            <a:extLst>
              <a:ext uri="{FF2B5EF4-FFF2-40B4-BE49-F238E27FC236}">
                <a16:creationId xmlns:a16="http://schemas.microsoft.com/office/drawing/2014/main" id="{1A4D5A85-B0BB-7A60-07CC-75FAB84EE255}"/>
              </a:ext>
            </a:extLst>
          </p:cNvPr>
          <p:cNvSpPr>
            <a:spLocks noGrp="1"/>
          </p:cNvSpPr>
          <p:nvPr>
            <p:ph idx="1"/>
          </p:nvPr>
        </p:nvSpPr>
        <p:spPr/>
        <p:txBody>
          <a:bodyPr>
            <a:normAutofit/>
          </a:bodyPr>
          <a:lstStyle/>
          <a:p>
            <a:pPr marL="0" indent="0" algn="ctr">
              <a:buNone/>
            </a:pPr>
            <a:endParaRPr lang="en-US" sz="6600" dirty="0"/>
          </a:p>
          <a:p>
            <a:pPr marL="0" indent="0" algn="ctr">
              <a:buNone/>
            </a:pPr>
            <a:r>
              <a:rPr lang="en-US" sz="6600" dirty="0"/>
              <a:t>Thank you</a:t>
            </a:r>
          </a:p>
          <a:p>
            <a:pPr marL="0" indent="0">
              <a:buNone/>
            </a:pPr>
            <a:endParaRPr lang="en-US" sz="3200" dirty="0"/>
          </a:p>
          <a:p>
            <a:pPr marL="0" indent="0">
              <a:buNone/>
            </a:pPr>
            <a:endParaRPr lang="en-US" sz="3200" dirty="0"/>
          </a:p>
          <a:p>
            <a:pPr marL="0" indent="0">
              <a:buNone/>
            </a:pPr>
            <a:r>
              <a:rPr lang="en-US" sz="2000" b="1" dirty="0">
                <a:solidFill>
                  <a:srgbClr val="670129"/>
                </a:solidFill>
              </a:rPr>
              <a:t>Adeyinka Olurin</a:t>
            </a:r>
          </a:p>
          <a:p>
            <a:pPr marL="0" indent="0">
              <a:lnSpc>
                <a:spcPct val="100000"/>
              </a:lnSpc>
              <a:spcBef>
                <a:spcPts val="0"/>
              </a:spcBef>
              <a:buNone/>
            </a:pPr>
            <a:r>
              <a:rPr lang="en-US" sz="1600" dirty="0"/>
              <a:t>University of Arkansas at Little Rock</a:t>
            </a:r>
          </a:p>
          <a:p>
            <a:pPr marL="0" indent="0">
              <a:lnSpc>
                <a:spcPct val="100000"/>
              </a:lnSpc>
              <a:spcBef>
                <a:spcPts val="0"/>
              </a:spcBef>
              <a:buNone/>
            </a:pPr>
            <a:r>
              <a:rPr lang="en-US" sz="1600" dirty="0"/>
              <a:t>Donaghey College of Computer Science, Technology, Engineering, and Mathematics.</a:t>
            </a:r>
          </a:p>
          <a:p>
            <a:pPr marL="0" indent="0">
              <a:lnSpc>
                <a:spcPct val="100000"/>
              </a:lnSpc>
              <a:spcBef>
                <a:spcPts val="0"/>
              </a:spcBef>
              <a:buNone/>
            </a:pPr>
            <a:endParaRPr lang="en-US" sz="1600" dirty="0"/>
          </a:p>
        </p:txBody>
      </p:sp>
      <p:sp>
        <p:nvSpPr>
          <p:cNvPr id="4" name="Slide Number Placeholder 3">
            <a:extLst>
              <a:ext uri="{FF2B5EF4-FFF2-40B4-BE49-F238E27FC236}">
                <a16:creationId xmlns:a16="http://schemas.microsoft.com/office/drawing/2014/main" id="{440A83FE-BA5D-F675-6AA5-D35A1C83A809}"/>
              </a:ext>
            </a:extLst>
          </p:cNvPr>
          <p:cNvSpPr>
            <a:spLocks noGrp="1"/>
          </p:cNvSpPr>
          <p:nvPr>
            <p:ph type="sldNum" sz="quarter" idx="12"/>
          </p:nvPr>
        </p:nvSpPr>
        <p:spPr/>
        <p:txBody>
          <a:bodyPr/>
          <a:lstStyle/>
          <a:p>
            <a:fld id="{CC057153-B650-4DEB-B370-79DDCFDCE934}" type="slidenum">
              <a:rPr lang="en-US" smtClean="0"/>
              <a:t>7</a:t>
            </a:fld>
            <a:endParaRPr lang="en-US"/>
          </a:p>
        </p:txBody>
      </p:sp>
      <p:pic>
        <p:nvPicPr>
          <p:cNvPr id="5" name="Picture 4" descr="A logo with text on it&#10;&#10;AI-generated content may be incorrect.">
            <a:extLst>
              <a:ext uri="{FF2B5EF4-FFF2-40B4-BE49-F238E27FC236}">
                <a16:creationId xmlns:a16="http://schemas.microsoft.com/office/drawing/2014/main" id="{B841525B-DEC3-2512-A18B-945C2A685EB0}"/>
              </a:ext>
            </a:extLst>
          </p:cNvPr>
          <p:cNvPicPr>
            <a:picLocks noChangeAspect="1"/>
          </p:cNvPicPr>
          <p:nvPr/>
        </p:nvPicPr>
        <p:blipFill>
          <a:blip r:embed="rId2"/>
          <a:stretch>
            <a:fillRect/>
          </a:stretch>
        </p:blipFill>
        <p:spPr>
          <a:xfrm>
            <a:off x="0" y="6350818"/>
            <a:ext cx="1291656" cy="507182"/>
          </a:xfrm>
          <a:prstGeom prst="rect">
            <a:avLst/>
          </a:prstGeom>
        </p:spPr>
      </p:pic>
    </p:spTree>
    <p:extLst>
      <p:ext uri="{BB962C8B-B14F-4D97-AF65-F5344CB8AC3E}">
        <p14:creationId xmlns:p14="http://schemas.microsoft.com/office/powerpoint/2010/main" val="1001481472"/>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2828</TotalTime>
  <Words>514</Words>
  <Application>Microsoft Macintosh PowerPoint</Application>
  <PresentationFormat>Widescreen</PresentationFormat>
  <Paragraphs>82</Paragraphs>
  <Slides>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Calibri</vt:lpstr>
      <vt:lpstr>Calibri Light</vt:lpstr>
      <vt:lpstr>Office 2013 - 2022 Theme</vt:lpstr>
      <vt:lpstr>AI Agents vs. Agentic AI: A Conceptual taxonomy, applications and challenges</vt:lpstr>
      <vt:lpstr>Introduction</vt:lpstr>
      <vt:lpstr>AI Agents vs Agentic AI</vt:lpstr>
      <vt:lpstr>Architectural Evolution and Conceptual Taxonomy – AI Agents vs Agentic AI</vt:lpstr>
      <vt:lpstr>Applications of AI Agents vs Agentic AI</vt:lpstr>
      <vt:lpstr>Challenges and Future Solutions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Adeyinka Olurin</dc:creator>
  <cp:lastModifiedBy>Adeyinka Olurin</cp:lastModifiedBy>
  <cp:revision>2</cp:revision>
  <dcterms:created xsi:type="dcterms:W3CDTF">2025-10-20T19:38:21Z</dcterms:created>
  <dcterms:modified xsi:type="dcterms:W3CDTF">2025-12-03T21:09:26Z</dcterms:modified>
</cp:coreProperties>
</file>