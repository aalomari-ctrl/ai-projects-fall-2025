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Average"/>
      <p:regular r:id="rId22"/>
    </p:embeddedFont>
    <p:embeddedFont>
      <p:font typeface="Oswald"/>
      <p:regular r:id="rId23"/>
      <p:bold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font" Target="fonts/Average-regular.fntdata"/><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24" Type="http://schemas.openxmlformats.org/officeDocument/2006/relationships/font" Target="fonts/Oswald-bold.fntdata"/><Relationship Id="rId12" Type="http://schemas.openxmlformats.org/officeDocument/2006/relationships/slide" Target="slides/slide7.xml"/><Relationship Id="rId23" Type="http://schemas.openxmlformats.org/officeDocument/2006/relationships/font" Target="fonts/Oswald-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ac574c49ff_2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g3ac574c49ff_2_7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ac574c49ff_2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g3ac574c49ff_2_9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ac574c49ff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ac574c49ff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ac574c49ff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ac574c49ff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ac574c49ff_2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g3ac574c49ff_2_8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ac574c49ff_2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g3ac574c49ff_2_8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ac574c49ff_2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g3ac574c49ff_2_9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ac574c49ff_2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g3ac574c49ff_2_10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ac574c49f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ac574c49f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ac574c49ff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ac574c49f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ac574c49ff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ac574c49ff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ac574c49ff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ac574c49ff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ac574c49ff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ac574c49ff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ac574c49ff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ac574c49ff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ac574c49ff_2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g3ac574c49ff_2_11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ac574c49ff_0_6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ac574c49ff_0_6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5" name="Shape 55"/>
        <p:cNvGrpSpPr/>
        <p:nvPr/>
      </p:nvGrpSpPr>
      <p:grpSpPr>
        <a:xfrm>
          <a:off x="0" y="0"/>
          <a:ext cx="0" cy="0"/>
          <a:chOff x="0" y="0"/>
          <a:chExt cx="0" cy="0"/>
        </a:xfrm>
      </p:grpSpPr>
      <p:sp>
        <p:nvSpPr>
          <p:cNvPr id="56" name="Google Shape;56;p13"/>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57" name="Google Shape;57;p13"/>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1200"/>
              </a:spcBef>
              <a:spcAft>
                <a:spcPts val="0"/>
              </a:spcAft>
              <a:buClr>
                <a:schemeClr val="dk1"/>
              </a:buClr>
              <a:buSzPts val="1800"/>
              <a:buChar char="○"/>
              <a:defRPr/>
            </a:lvl2pPr>
            <a:lvl3pPr indent="-342900" lvl="2" marL="1371600" algn="l">
              <a:spcBef>
                <a:spcPts val="1200"/>
              </a:spcBef>
              <a:spcAft>
                <a:spcPts val="0"/>
              </a:spcAft>
              <a:buClr>
                <a:schemeClr val="dk1"/>
              </a:buClr>
              <a:buSzPts val="1800"/>
              <a:buChar char="■"/>
              <a:defRPr/>
            </a:lvl3pPr>
            <a:lvl4pPr indent="-342900" lvl="3" marL="1828800" algn="l">
              <a:spcBef>
                <a:spcPts val="1200"/>
              </a:spcBef>
              <a:spcAft>
                <a:spcPts val="0"/>
              </a:spcAft>
              <a:buClr>
                <a:schemeClr val="dk1"/>
              </a:buClr>
              <a:buSzPts val="1800"/>
              <a:buChar char="●"/>
              <a:defRPr/>
            </a:lvl4pPr>
            <a:lvl5pPr indent="-342900" lvl="4" marL="2286000" algn="l">
              <a:spcBef>
                <a:spcPts val="1200"/>
              </a:spcBef>
              <a:spcAft>
                <a:spcPts val="0"/>
              </a:spcAft>
              <a:buClr>
                <a:schemeClr val="dk1"/>
              </a:buClr>
              <a:buSzPts val="1800"/>
              <a:buChar char="○"/>
              <a:defRPr/>
            </a:lvl5pPr>
            <a:lvl6pPr indent="-342900" lvl="5" marL="2743200" algn="l">
              <a:spcBef>
                <a:spcPts val="1200"/>
              </a:spcBef>
              <a:spcAft>
                <a:spcPts val="0"/>
              </a:spcAft>
              <a:buClr>
                <a:schemeClr val="dk1"/>
              </a:buClr>
              <a:buSzPts val="1800"/>
              <a:buChar char="■"/>
              <a:defRPr/>
            </a:lvl6pPr>
            <a:lvl7pPr indent="-342900" lvl="6" marL="3200400" algn="l">
              <a:spcBef>
                <a:spcPts val="1200"/>
              </a:spcBef>
              <a:spcAft>
                <a:spcPts val="0"/>
              </a:spcAft>
              <a:buClr>
                <a:schemeClr val="dk1"/>
              </a:buClr>
              <a:buSzPts val="1800"/>
              <a:buChar char="●"/>
              <a:defRPr/>
            </a:lvl7pPr>
            <a:lvl8pPr indent="-342900" lvl="7" marL="3657600" algn="l">
              <a:spcBef>
                <a:spcPts val="1200"/>
              </a:spcBef>
              <a:spcAft>
                <a:spcPts val="0"/>
              </a:spcAft>
              <a:buClr>
                <a:schemeClr val="dk1"/>
              </a:buClr>
              <a:buSzPts val="1800"/>
              <a:buChar char="○"/>
              <a:defRPr/>
            </a:lvl8pPr>
            <a:lvl9pPr indent="-342900" lvl="8" marL="4114800" algn="l">
              <a:spcBef>
                <a:spcPts val="1200"/>
              </a:spcBef>
              <a:spcAft>
                <a:spcPts val="1200"/>
              </a:spcAft>
              <a:buClr>
                <a:schemeClr val="dk1"/>
              </a:buClr>
              <a:buSzPts val="1800"/>
              <a:buChar char="■"/>
              <a:defRPr/>
            </a:lvl9pPr>
          </a:lstStyle>
          <a:p/>
        </p:txBody>
      </p:sp>
      <p:sp>
        <p:nvSpPr>
          <p:cNvPr id="58" name="Google Shape;58;p1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3"/>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4"/>
          <p:cNvSpPr txBox="1"/>
          <p:nvPr>
            <p:ph type="title"/>
          </p:nvPr>
        </p:nvSpPr>
        <p:spPr>
          <a:xfrm>
            <a:off x="1792288" y="3600450"/>
            <a:ext cx="5486400" cy="4251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3" name="Google Shape;63;p14"/>
          <p:cNvSpPr/>
          <p:nvPr>
            <p:ph idx="2" type="pic"/>
          </p:nvPr>
        </p:nvSpPr>
        <p:spPr>
          <a:xfrm>
            <a:off x="1792288" y="459581"/>
            <a:ext cx="5486400" cy="3086100"/>
          </a:xfrm>
          <a:prstGeom prst="rect">
            <a:avLst/>
          </a:prstGeom>
          <a:noFill/>
          <a:ln>
            <a:noFill/>
          </a:ln>
        </p:spPr>
      </p:sp>
      <p:sp>
        <p:nvSpPr>
          <p:cNvPr id="64" name="Google Shape;64;p14"/>
          <p:cNvSpPr txBox="1"/>
          <p:nvPr>
            <p:ph idx="1" type="body"/>
          </p:nvPr>
        </p:nvSpPr>
        <p:spPr>
          <a:xfrm>
            <a:off x="1792288" y="4025504"/>
            <a:ext cx="5486400" cy="6036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1200"/>
              </a:spcBef>
              <a:spcAft>
                <a:spcPts val="0"/>
              </a:spcAft>
              <a:buClr>
                <a:schemeClr val="dk1"/>
              </a:buClr>
              <a:buSzPts val="1200"/>
              <a:buNone/>
              <a:defRPr sz="1200"/>
            </a:lvl2pPr>
            <a:lvl3pPr indent="-228600" lvl="2" marL="1371600" algn="l">
              <a:spcBef>
                <a:spcPts val="1200"/>
              </a:spcBef>
              <a:spcAft>
                <a:spcPts val="0"/>
              </a:spcAft>
              <a:buClr>
                <a:schemeClr val="dk1"/>
              </a:buClr>
              <a:buSzPts val="1000"/>
              <a:buNone/>
              <a:defRPr sz="1000"/>
            </a:lvl3pPr>
            <a:lvl4pPr indent="-228600" lvl="3" marL="1828800" algn="l">
              <a:spcBef>
                <a:spcPts val="1200"/>
              </a:spcBef>
              <a:spcAft>
                <a:spcPts val="0"/>
              </a:spcAft>
              <a:buClr>
                <a:schemeClr val="dk1"/>
              </a:buClr>
              <a:buSzPts val="900"/>
              <a:buNone/>
              <a:defRPr sz="900"/>
            </a:lvl4pPr>
            <a:lvl5pPr indent="-228600" lvl="4" marL="2286000" algn="l">
              <a:spcBef>
                <a:spcPts val="1200"/>
              </a:spcBef>
              <a:spcAft>
                <a:spcPts val="0"/>
              </a:spcAft>
              <a:buClr>
                <a:schemeClr val="dk1"/>
              </a:buClr>
              <a:buSzPts val="900"/>
              <a:buNone/>
              <a:defRPr sz="900"/>
            </a:lvl5pPr>
            <a:lvl6pPr indent="-228600" lvl="5" marL="2743200" algn="l">
              <a:spcBef>
                <a:spcPts val="1200"/>
              </a:spcBef>
              <a:spcAft>
                <a:spcPts val="0"/>
              </a:spcAft>
              <a:buClr>
                <a:schemeClr val="dk1"/>
              </a:buClr>
              <a:buSzPts val="900"/>
              <a:buNone/>
              <a:defRPr sz="900"/>
            </a:lvl6pPr>
            <a:lvl7pPr indent="-228600" lvl="6" marL="3200400" algn="l">
              <a:spcBef>
                <a:spcPts val="1200"/>
              </a:spcBef>
              <a:spcAft>
                <a:spcPts val="0"/>
              </a:spcAft>
              <a:buClr>
                <a:schemeClr val="dk1"/>
              </a:buClr>
              <a:buSzPts val="900"/>
              <a:buNone/>
              <a:defRPr sz="900"/>
            </a:lvl7pPr>
            <a:lvl8pPr indent="-228600" lvl="7" marL="3657600" algn="l">
              <a:spcBef>
                <a:spcPts val="1200"/>
              </a:spcBef>
              <a:spcAft>
                <a:spcPts val="0"/>
              </a:spcAft>
              <a:buClr>
                <a:schemeClr val="dk1"/>
              </a:buClr>
              <a:buSzPts val="900"/>
              <a:buNone/>
              <a:defRPr sz="900"/>
            </a:lvl8pPr>
            <a:lvl9pPr indent="-228600" lvl="8" marL="4114800" algn="l">
              <a:spcBef>
                <a:spcPts val="1200"/>
              </a:spcBef>
              <a:spcAft>
                <a:spcPts val="1200"/>
              </a:spcAft>
              <a:buClr>
                <a:schemeClr val="dk1"/>
              </a:buClr>
              <a:buSzPts val="900"/>
              <a:buNone/>
              <a:defRPr sz="900"/>
            </a:lvl9pPr>
          </a:lstStyle>
          <a:p/>
        </p:txBody>
      </p:sp>
      <p:sp>
        <p:nvSpPr>
          <p:cNvPr id="65" name="Google Shape;65;p14"/>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4"/>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4"/>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hyperlink" Target="https://www.kaggle.com/datasets/hanaksoy/customer-purchasing-behaviors" TargetMode="External"/><Relationship Id="rId4" Type="http://schemas.openxmlformats.org/officeDocument/2006/relationships/hyperlink" Target="https://www.kaggle.com/datasets/zeesolver/consumer-behavior-and-shopping-habits-dataset" TargetMode="External"/><Relationship Id="rId5" Type="http://schemas.openxmlformats.org/officeDocument/2006/relationships/hyperlink" Target="https://www.kaggle.com/datasets/uom190346a/e-commerce-customer-behavior-dataset"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ctrTitle"/>
          </p:nvPr>
        </p:nvSpPr>
        <p:spPr>
          <a:xfrm>
            <a:off x="671258" y="990800"/>
            <a:ext cx="7801500" cy="17301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 sz="4400">
                <a:solidFill>
                  <a:schemeClr val="dk1"/>
                </a:solidFill>
                <a:latin typeface="Calibri"/>
                <a:ea typeface="Calibri"/>
                <a:cs typeface="Calibri"/>
                <a:sym typeface="Calibri"/>
              </a:rPr>
              <a:t>Customer Purchase Prediction</a:t>
            </a:r>
            <a:endParaRPr/>
          </a:p>
        </p:txBody>
      </p:sp>
      <p:sp>
        <p:nvSpPr>
          <p:cNvPr id="73" name="Google Shape;73;p15"/>
          <p:cNvSpPr txBox="1"/>
          <p:nvPr>
            <p:ph idx="1" type="subTitle"/>
          </p:nvPr>
        </p:nvSpPr>
        <p:spPr>
          <a:xfrm>
            <a:off x="671250" y="3174876"/>
            <a:ext cx="7801500" cy="7926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888888"/>
              </a:buClr>
              <a:buSzPts val="3200"/>
              <a:buNone/>
            </a:pPr>
            <a:r>
              <a:rPr lang="en">
                <a:solidFill>
                  <a:srgbClr val="888888"/>
                </a:solidFill>
              </a:rPr>
              <a:t>Blessing Itodo</a:t>
            </a:r>
            <a:endParaRPr>
              <a:solidFill>
                <a:srgbClr val="888888"/>
              </a:solidFill>
            </a:endParaRPr>
          </a:p>
          <a:p>
            <a:pPr indent="0" lvl="0" marL="0" rtl="0" algn="ctr">
              <a:spcBef>
                <a:spcPts val="0"/>
              </a:spcBef>
              <a:spcAft>
                <a:spcPts val="0"/>
              </a:spcAft>
              <a:buClr>
                <a:srgbClr val="888888"/>
              </a:buClr>
              <a:buSzPts val="3200"/>
              <a:buNone/>
            </a:pPr>
            <a:r>
              <a:rPr lang="en">
                <a:solidFill>
                  <a:srgbClr val="888888"/>
                </a:solidFill>
              </a:rPr>
              <a:t>Artificial Intelligence Final Project</a:t>
            </a:r>
            <a:endParaRPr>
              <a:solidFill>
                <a:srgbClr val="888888"/>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 sz="4400">
                <a:solidFill>
                  <a:schemeClr val="dk1"/>
                </a:solidFill>
                <a:latin typeface="Calibri"/>
                <a:ea typeface="Calibri"/>
                <a:cs typeface="Calibri"/>
                <a:sym typeface="Calibri"/>
              </a:rPr>
              <a:t>Project Overview</a:t>
            </a:r>
            <a:endParaRPr/>
          </a:p>
        </p:txBody>
      </p:sp>
      <p:sp>
        <p:nvSpPr>
          <p:cNvPr id="79" name="Google Shape;79;p1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 sz="3200">
                <a:solidFill>
                  <a:schemeClr val="dk1"/>
                </a:solidFill>
                <a:latin typeface="Calibri"/>
                <a:ea typeface="Calibri"/>
                <a:cs typeface="Calibri"/>
                <a:sym typeface="Calibri"/>
              </a:rPr>
              <a:t>• Goal: Predict likelihood of customer purchasing</a:t>
            </a:r>
            <a:endParaRPr/>
          </a:p>
          <a:p>
            <a:pPr indent="-285750" lvl="1" marL="742950" rtl="0" algn="l">
              <a:spcBef>
                <a:spcPts val="560"/>
              </a:spcBef>
              <a:spcAft>
                <a:spcPts val="0"/>
              </a:spcAft>
              <a:buClr>
                <a:schemeClr val="dk1"/>
              </a:buClr>
              <a:buSzPts val="2800"/>
              <a:buChar char="○"/>
            </a:pPr>
            <a:r>
              <a:rPr lang="en" sz="2800">
                <a:solidFill>
                  <a:schemeClr val="dk1"/>
                </a:solidFill>
                <a:latin typeface="Calibri"/>
                <a:ea typeface="Calibri"/>
                <a:cs typeface="Calibri"/>
                <a:sym typeface="Calibri"/>
              </a:rPr>
              <a:t>Data: Multiple datasets on consumer behavior &amp; reviews</a:t>
            </a:r>
            <a:endParaRPr/>
          </a:p>
          <a:p>
            <a:pPr indent="-285750" lvl="1" marL="742950" rtl="0" algn="l">
              <a:spcBef>
                <a:spcPts val="560"/>
              </a:spcBef>
              <a:spcAft>
                <a:spcPts val="0"/>
              </a:spcAft>
              <a:buClr>
                <a:schemeClr val="dk1"/>
              </a:buClr>
              <a:buSzPts val="2800"/>
              <a:buChar char="○"/>
            </a:pPr>
            <a:r>
              <a:rPr lang="en" sz="2800">
                <a:solidFill>
                  <a:schemeClr val="dk1"/>
                </a:solidFill>
                <a:latin typeface="Calibri"/>
                <a:ea typeface="Calibri"/>
                <a:cs typeface="Calibri"/>
                <a:sym typeface="Calibri"/>
              </a:rPr>
              <a:t>Methods: Random Forest, baseline models, EDA</a:t>
            </a:r>
            <a:endParaRPr/>
          </a:p>
          <a:p>
            <a:pPr indent="-285750" lvl="1" marL="742950" rtl="0" algn="l">
              <a:spcBef>
                <a:spcPts val="560"/>
              </a:spcBef>
              <a:spcAft>
                <a:spcPts val="1200"/>
              </a:spcAft>
              <a:buClr>
                <a:schemeClr val="dk1"/>
              </a:buClr>
              <a:buSzPts val="2800"/>
              <a:buChar char="○"/>
            </a:pPr>
            <a:r>
              <a:rPr lang="en" sz="2800">
                <a:solidFill>
                  <a:schemeClr val="dk1"/>
                </a:solidFill>
                <a:latin typeface="Calibri"/>
                <a:ea typeface="Calibri"/>
                <a:cs typeface="Calibri"/>
                <a:sym typeface="Calibri"/>
              </a:rPr>
              <a:t>Outputs: Feature importance, accuracy, insights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457200" y="205978"/>
            <a:ext cx="8229600" cy="8574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
              <a:t>Project Overview cont</a:t>
            </a:r>
            <a:endParaRPr/>
          </a:p>
        </p:txBody>
      </p:sp>
      <p:sp>
        <p:nvSpPr>
          <p:cNvPr id="85" name="Google Shape;85;p17"/>
          <p:cNvSpPr txBox="1"/>
          <p:nvPr>
            <p:ph idx="1" type="body"/>
          </p:nvPr>
        </p:nvSpPr>
        <p:spPr>
          <a:xfrm>
            <a:off x="457200" y="1200150"/>
            <a:ext cx="8229600" cy="33945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Clr>
                <a:schemeClr val="dk1"/>
              </a:buClr>
              <a:buSzPts val="1100"/>
              <a:buFont typeface="Arial"/>
              <a:buNone/>
            </a:pPr>
            <a:r>
              <a:rPr lang="en"/>
              <a:t>This project develops a machine learning model to predict customer purchasing decisions using Random Forest classification algorithms. By analyzing demographic data and historical purchasing behavior, the model aims to identify key factors that influence buying decisions, enabling businesses to optimize marketing strategies and improve customer targeting.</a:t>
            </a:r>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457200" y="205978"/>
            <a:ext cx="8229600" cy="857400"/>
          </a:xfrm>
          <a:prstGeom prst="rect">
            <a:avLst/>
          </a:prstGeom>
        </p:spPr>
        <p:txBody>
          <a:bodyPr anchorCtr="0" anchor="ctr" bIns="45700" lIns="91425" spcFirstLastPara="1" rIns="91425" wrap="square" tIns="45700">
            <a:normAutofit/>
          </a:bodyPr>
          <a:lstStyle/>
          <a:p>
            <a:pPr indent="0" lvl="0" marL="0" rtl="0" algn="l">
              <a:spcBef>
                <a:spcPts val="360"/>
              </a:spcBef>
              <a:spcAft>
                <a:spcPts val="0"/>
              </a:spcAft>
              <a:buClr>
                <a:schemeClr val="dk1"/>
              </a:buClr>
              <a:buSzPts val="1100"/>
              <a:buFont typeface="Arial"/>
              <a:buNone/>
            </a:pPr>
            <a:r>
              <a:rPr lang="en" sz="3200"/>
              <a:t>Objectives</a:t>
            </a:r>
            <a:endParaRPr/>
          </a:p>
        </p:txBody>
      </p:sp>
      <p:sp>
        <p:nvSpPr>
          <p:cNvPr id="91" name="Google Shape;91;p18"/>
          <p:cNvSpPr txBox="1"/>
          <p:nvPr>
            <p:ph idx="1" type="body"/>
          </p:nvPr>
        </p:nvSpPr>
        <p:spPr>
          <a:xfrm>
            <a:off x="457200" y="1200150"/>
            <a:ext cx="8229600" cy="33945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Clr>
                <a:schemeClr val="dk1"/>
              </a:buClr>
              <a:buSzPts val="1100"/>
              <a:buFont typeface="Arial"/>
              <a:buNone/>
            </a:pPr>
            <a:r>
              <a:t/>
            </a:r>
            <a:endParaRPr/>
          </a:p>
          <a:p>
            <a:pPr indent="0" lvl="0" marL="0" rtl="0" algn="l">
              <a:spcBef>
                <a:spcPts val="1200"/>
              </a:spcBef>
              <a:spcAft>
                <a:spcPts val="0"/>
              </a:spcAft>
              <a:buClr>
                <a:schemeClr val="dk1"/>
              </a:buClr>
              <a:buSzPts val="1100"/>
              <a:buFont typeface="Arial"/>
              <a:buNone/>
            </a:pPr>
            <a:r>
              <a:rPr lang="en"/>
              <a:t>● Build and train a Random Forest classifier to predict product purchase likelihood</a:t>
            </a:r>
            <a:endParaRPr/>
          </a:p>
          <a:p>
            <a:pPr indent="0" lvl="0" marL="0" rtl="0" algn="l">
              <a:spcBef>
                <a:spcPts val="1200"/>
              </a:spcBef>
              <a:spcAft>
                <a:spcPts val="0"/>
              </a:spcAft>
              <a:buClr>
                <a:schemeClr val="dk1"/>
              </a:buClr>
              <a:buSzPts val="1100"/>
              <a:buFont typeface="Arial"/>
              <a:buNone/>
            </a:pPr>
            <a:r>
              <a:rPr lang="en"/>
              <a:t>● Identify the most influential features driving customer purchase decisions</a:t>
            </a:r>
            <a:endParaRPr/>
          </a:p>
          <a:p>
            <a:pPr indent="0" lvl="0" marL="0" rtl="0" algn="l">
              <a:spcBef>
                <a:spcPts val="1200"/>
              </a:spcBef>
              <a:spcAft>
                <a:spcPts val="0"/>
              </a:spcAft>
              <a:buClr>
                <a:schemeClr val="dk1"/>
              </a:buClr>
              <a:buSzPts val="1100"/>
              <a:buFont typeface="Arial"/>
              <a:buNone/>
            </a:pPr>
            <a:r>
              <a:rPr lang="en"/>
              <a:t>● Analyze consumer behavior patterns across different demographic segments</a:t>
            </a:r>
            <a:endParaRPr/>
          </a:p>
          <a:p>
            <a:pPr indent="0" lvl="0" marL="0" rtl="0" algn="l">
              <a:spcBef>
                <a:spcPts val="1200"/>
              </a:spcBef>
              <a:spcAft>
                <a:spcPts val="0"/>
              </a:spcAft>
              <a:buClr>
                <a:schemeClr val="dk1"/>
              </a:buClr>
              <a:buSzPts val="1100"/>
              <a:buFont typeface="Arial"/>
              <a:buNone/>
            </a:pPr>
            <a:r>
              <a:rPr lang="en"/>
              <a:t>● Provide actionable insights for targeted marketing campaigns</a:t>
            </a:r>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 sz="4400">
                <a:solidFill>
                  <a:schemeClr val="dk1"/>
                </a:solidFill>
                <a:latin typeface="Calibri"/>
                <a:ea typeface="Calibri"/>
                <a:cs typeface="Calibri"/>
                <a:sym typeface="Calibri"/>
              </a:rPr>
              <a:t>Theory Behind the AI Model</a:t>
            </a:r>
            <a:endParaRPr/>
          </a:p>
        </p:txBody>
      </p:sp>
      <p:sp>
        <p:nvSpPr>
          <p:cNvPr id="97" name="Google Shape;97;p19"/>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fontScale="85000"/>
          </a:bodyPr>
          <a:lstStyle/>
          <a:p>
            <a:pPr indent="-312420" lvl="0" marL="342900" rtl="0" algn="l">
              <a:spcBef>
                <a:spcPts val="0"/>
              </a:spcBef>
              <a:spcAft>
                <a:spcPts val="0"/>
              </a:spcAft>
              <a:buClr>
                <a:schemeClr val="dk1"/>
              </a:buClr>
              <a:buSzPct val="100000"/>
              <a:buChar char="●"/>
            </a:pPr>
            <a:r>
              <a:rPr lang="en" sz="3200">
                <a:solidFill>
                  <a:schemeClr val="dk1"/>
                </a:solidFill>
                <a:latin typeface="Calibri"/>
                <a:ea typeface="Calibri"/>
                <a:cs typeface="Calibri"/>
                <a:sym typeface="Calibri"/>
              </a:rPr>
              <a:t>Machine Learning classification using Random Forest</a:t>
            </a:r>
            <a:endParaRPr/>
          </a:p>
          <a:p>
            <a:pPr indent="-259080" lvl="1" marL="742950" rtl="0" algn="l">
              <a:spcBef>
                <a:spcPts val="560"/>
              </a:spcBef>
              <a:spcAft>
                <a:spcPts val="0"/>
              </a:spcAft>
              <a:buClr>
                <a:schemeClr val="dk1"/>
              </a:buClr>
              <a:buSzPct val="100000"/>
              <a:buChar char="○"/>
            </a:pPr>
            <a:r>
              <a:rPr lang="en" sz="2800">
                <a:solidFill>
                  <a:schemeClr val="dk1"/>
                </a:solidFill>
                <a:latin typeface="Calibri"/>
                <a:ea typeface="Calibri"/>
                <a:cs typeface="Calibri"/>
                <a:sym typeface="Calibri"/>
              </a:rPr>
              <a:t>Ensemble learning improves prediction accuracy &amp; robustness</a:t>
            </a:r>
            <a:endParaRPr/>
          </a:p>
          <a:p>
            <a:pPr indent="-259080" lvl="1" marL="742950" rtl="0" algn="l">
              <a:spcBef>
                <a:spcPts val="560"/>
              </a:spcBef>
              <a:spcAft>
                <a:spcPts val="0"/>
              </a:spcAft>
              <a:buClr>
                <a:schemeClr val="dk1"/>
              </a:buClr>
              <a:buSzPct val="100000"/>
              <a:buChar char="○"/>
            </a:pPr>
            <a:r>
              <a:rPr lang="en" sz="2800">
                <a:solidFill>
                  <a:schemeClr val="dk1"/>
                </a:solidFill>
                <a:latin typeface="Calibri"/>
                <a:ea typeface="Calibri"/>
                <a:cs typeface="Calibri"/>
                <a:sym typeface="Calibri"/>
              </a:rPr>
              <a:t>Uses decision trees, bootstrapping, and feature randomness</a:t>
            </a:r>
            <a:endParaRPr/>
          </a:p>
          <a:p>
            <a:pPr indent="-259080" lvl="1" marL="742950" rtl="0" algn="l">
              <a:spcBef>
                <a:spcPts val="560"/>
              </a:spcBef>
              <a:spcAft>
                <a:spcPts val="1200"/>
              </a:spcAft>
              <a:buClr>
                <a:schemeClr val="dk1"/>
              </a:buClr>
              <a:buSzPct val="100000"/>
              <a:buChar char="○"/>
            </a:pPr>
            <a:r>
              <a:rPr lang="en" sz="2800">
                <a:solidFill>
                  <a:schemeClr val="dk1"/>
                </a:solidFill>
                <a:latin typeface="Calibri"/>
                <a:ea typeface="Calibri"/>
                <a:cs typeface="Calibri"/>
                <a:sym typeface="Calibri"/>
              </a:rPr>
              <a:t>Suitable for mixed data types and nonlinear relationships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 sz="4400">
                <a:solidFill>
                  <a:schemeClr val="dk1"/>
                </a:solidFill>
                <a:latin typeface="Calibri"/>
                <a:ea typeface="Calibri"/>
                <a:cs typeface="Calibri"/>
                <a:sym typeface="Calibri"/>
              </a:rPr>
              <a:t>Local Impact of AI</a:t>
            </a:r>
            <a:endParaRPr/>
          </a:p>
        </p:txBody>
      </p:sp>
      <p:sp>
        <p:nvSpPr>
          <p:cNvPr id="103" name="Google Shape;103;p20"/>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 sz="3200">
                <a:solidFill>
                  <a:schemeClr val="dk1"/>
                </a:solidFill>
                <a:latin typeface="Calibri"/>
                <a:ea typeface="Calibri"/>
                <a:cs typeface="Calibri"/>
                <a:sym typeface="Calibri"/>
              </a:rPr>
              <a:t>Helps local businesses optimize marketing strategies</a:t>
            </a:r>
            <a:endParaRPr/>
          </a:p>
          <a:p>
            <a:pPr indent="-285750" lvl="1" marL="742950" rtl="0" algn="l">
              <a:spcBef>
                <a:spcPts val="560"/>
              </a:spcBef>
              <a:spcAft>
                <a:spcPts val="0"/>
              </a:spcAft>
              <a:buClr>
                <a:schemeClr val="dk1"/>
              </a:buClr>
              <a:buSzPts val="2800"/>
              <a:buChar char="○"/>
            </a:pPr>
            <a:r>
              <a:rPr lang="en" sz="2800">
                <a:solidFill>
                  <a:schemeClr val="dk1"/>
                </a:solidFill>
                <a:latin typeface="Calibri"/>
                <a:ea typeface="Calibri"/>
                <a:cs typeface="Calibri"/>
                <a:sym typeface="Calibri"/>
              </a:rPr>
              <a:t>Enhances customer targeting and personalization</a:t>
            </a:r>
            <a:endParaRPr/>
          </a:p>
          <a:p>
            <a:pPr indent="-285750" lvl="1" marL="742950" rtl="0" algn="l">
              <a:spcBef>
                <a:spcPts val="560"/>
              </a:spcBef>
              <a:spcAft>
                <a:spcPts val="0"/>
              </a:spcAft>
              <a:buClr>
                <a:schemeClr val="dk1"/>
              </a:buClr>
              <a:buSzPts val="2800"/>
              <a:buChar char="○"/>
            </a:pPr>
            <a:r>
              <a:rPr lang="en" sz="2800">
                <a:solidFill>
                  <a:schemeClr val="dk1"/>
                </a:solidFill>
                <a:latin typeface="Calibri"/>
                <a:ea typeface="Calibri"/>
                <a:cs typeface="Calibri"/>
                <a:sym typeface="Calibri"/>
              </a:rPr>
              <a:t>Supports small retailers in resource allocation</a:t>
            </a:r>
            <a:endParaRPr/>
          </a:p>
          <a:p>
            <a:pPr indent="-285750" lvl="1" marL="742950" rtl="0" algn="l">
              <a:spcBef>
                <a:spcPts val="560"/>
              </a:spcBef>
              <a:spcAft>
                <a:spcPts val="1200"/>
              </a:spcAft>
              <a:buClr>
                <a:schemeClr val="dk1"/>
              </a:buClr>
              <a:buSzPts val="2800"/>
              <a:buChar char="○"/>
            </a:pPr>
            <a:r>
              <a:rPr lang="en" sz="2800">
                <a:solidFill>
                  <a:schemeClr val="dk1"/>
                </a:solidFill>
                <a:latin typeface="Calibri"/>
                <a:ea typeface="Calibri"/>
                <a:cs typeface="Calibri"/>
                <a:sym typeface="Calibri"/>
              </a:rPr>
              <a:t>Improves customer service and product recommendation systems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1"/>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 sz="4400">
                <a:solidFill>
                  <a:schemeClr val="dk1"/>
                </a:solidFill>
                <a:latin typeface="Calibri"/>
                <a:ea typeface="Calibri"/>
                <a:cs typeface="Calibri"/>
                <a:sym typeface="Calibri"/>
              </a:rPr>
              <a:t>Global Impact of AI</a:t>
            </a:r>
            <a:endParaRPr/>
          </a:p>
        </p:txBody>
      </p:sp>
      <p:sp>
        <p:nvSpPr>
          <p:cNvPr id="109" name="Google Shape;109;p21"/>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 sz="3200">
                <a:solidFill>
                  <a:schemeClr val="dk1"/>
                </a:solidFill>
                <a:latin typeface="Calibri"/>
                <a:ea typeface="Calibri"/>
                <a:cs typeface="Calibri"/>
                <a:sym typeface="Calibri"/>
              </a:rPr>
              <a:t>Drives automation across industries worldwide</a:t>
            </a:r>
            <a:endParaRPr/>
          </a:p>
          <a:p>
            <a:pPr indent="-285750" lvl="1" marL="742950" rtl="0" algn="l">
              <a:spcBef>
                <a:spcPts val="560"/>
              </a:spcBef>
              <a:spcAft>
                <a:spcPts val="0"/>
              </a:spcAft>
              <a:buClr>
                <a:schemeClr val="dk1"/>
              </a:buClr>
              <a:buSzPts val="2800"/>
              <a:buChar char="○"/>
            </a:pPr>
            <a:r>
              <a:rPr lang="en" sz="2800">
                <a:solidFill>
                  <a:schemeClr val="dk1"/>
                </a:solidFill>
                <a:latin typeface="Calibri"/>
                <a:ea typeface="Calibri"/>
                <a:cs typeface="Calibri"/>
                <a:sym typeface="Calibri"/>
              </a:rPr>
              <a:t>Enables large-scale personalization in e-commerce</a:t>
            </a:r>
            <a:endParaRPr/>
          </a:p>
          <a:p>
            <a:pPr indent="-285750" lvl="1" marL="742950" rtl="0" algn="l">
              <a:spcBef>
                <a:spcPts val="560"/>
              </a:spcBef>
              <a:spcAft>
                <a:spcPts val="0"/>
              </a:spcAft>
              <a:buClr>
                <a:schemeClr val="dk1"/>
              </a:buClr>
              <a:buSzPts val="2800"/>
              <a:buChar char="○"/>
            </a:pPr>
            <a:r>
              <a:rPr lang="en" sz="2800">
                <a:solidFill>
                  <a:schemeClr val="dk1"/>
                </a:solidFill>
                <a:latin typeface="Calibri"/>
                <a:ea typeface="Calibri"/>
                <a:cs typeface="Calibri"/>
                <a:sym typeface="Calibri"/>
              </a:rPr>
              <a:t>Helps global corporations predict market trends</a:t>
            </a:r>
            <a:endParaRPr/>
          </a:p>
          <a:p>
            <a:pPr indent="-285750" lvl="1" marL="742950" rtl="0" algn="l">
              <a:spcBef>
                <a:spcPts val="560"/>
              </a:spcBef>
              <a:spcAft>
                <a:spcPts val="1200"/>
              </a:spcAft>
              <a:buClr>
                <a:schemeClr val="dk1"/>
              </a:buClr>
              <a:buSzPts val="2800"/>
              <a:buChar char="○"/>
            </a:pPr>
            <a:r>
              <a:rPr lang="en" sz="2800">
                <a:solidFill>
                  <a:schemeClr val="dk1"/>
                </a:solidFill>
                <a:latin typeface="Calibri"/>
                <a:ea typeface="Calibri"/>
                <a:cs typeface="Calibri"/>
                <a:sym typeface="Calibri"/>
              </a:rPr>
              <a:t>Expands opportunities in AI-driven business intelligence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 sz="4400">
                <a:solidFill>
                  <a:schemeClr val="dk1"/>
                </a:solidFill>
                <a:latin typeface="Calibri"/>
                <a:ea typeface="Calibri"/>
                <a:cs typeface="Calibri"/>
                <a:sym typeface="Calibri"/>
              </a:rPr>
              <a:t>Key Insights From the Model</a:t>
            </a:r>
            <a:endParaRPr/>
          </a:p>
        </p:txBody>
      </p:sp>
      <p:sp>
        <p:nvSpPr>
          <p:cNvPr id="115" name="Google Shape;115;p22"/>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 sz="3200">
                <a:solidFill>
                  <a:schemeClr val="dk1"/>
                </a:solidFill>
                <a:latin typeface="Calibri"/>
                <a:ea typeface="Calibri"/>
                <a:cs typeface="Calibri"/>
                <a:sym typeface="Calibri"/>
              </a:rPr>
              <a:t>• High-impact features identified (income, sentiment, recency)</a:t>
            </a:r>
            <a:endParaRPr/>
          </a:p>
          <a:p>
            <a:pPr indent="-285750" lvl="1" marL="742950" rtl="0" algn="l">
              <a:spcBef>
                <a:spcPts val="560"/>
              </a:spcBef>
              <a:spcAft>
                <a:spcPts val="0"/>
              </a:spcAft>
              <a:buClr>
                <a:schemeClr val="dk1"/>
              </a:buClr>
              <a:buSzPts val="2800"/>
              <a:buChar char="○"/>
            </a:pPr>
            <a:r>
              <a:rPr lang="en" sz="2800">
                <a:solidFill>
                  <a:schemeClr val="dk1"/>
                </a:solidFill>
                <a:latin typeface="Calibri"/>
                <a:ea typeface="Calibri"/>
                <a:cs typeface="Calibri"/>
                <a:sym typeface="Calibri"/>
              </a:rPr>
              <a:t>• Model accuracy</a:t>
            </a:r>
            <a:endParaRPr/>
          </a:p>
          <a:p>
            <a:pPr indent="-285750" lvl="1" marL="742950" rtl="0" algn="l">
              <a:spcBef>
                <a:spcPts val="560"/>
              </a:spcBef>
              <a:spcAft>
                <a:spcPts val="0"/>
              </a:spcAft>
              <a:buClr>
                <a:schemeClr val="dk1"/>
              </a:buClr>
              <a:buSzPts val="2800"/>
              <a:buChar char="○"/>
            </a:pPr>
            <a:r>
              <a:rPr lang="en" sz="2800">
                <a:solidFill>
                  <a:schemeClr val="dk1"/>
                </a:solidFill>
                <a:latin typeface="Calibri"/>
                <a:ea typeface="Calibri"/>
                <a:cs typeface="Calibri"/>
                <a:sym typeface="Calibri"/>
              </a:rPr>
              <a:t>• Behavior trends</a:t>
            </a:r>
            <a:endParaRPr/>
          </a:p>
          <a:p>
            <a:pPr indent="-285750" lvl="1" marL="742950" rtl="0" algn="l">
              <a:spcBef>
                <a:spcPts val="560"/>
              </a:spcBef>
              <a:spcAft>
                <a:spcPts val="1200"/>
              </a:spcAft>
              <a:buClr>
                <a:schemeClr val="dk1"/>
              </a:buClr>
              <a:buSzPts val="2800"/>
              <a:buChar char="○"/>
            </a:pPr>
            <a:r>
              <a:rPr lang="en" sz="2800">
                <a:solidFill>
                  <a:schemeClr val="dk1"/>
                </a:solidFill>
                <a:latin typeface="Calibri"/>
                <a:ea typeface="Calibri"/>
                <a:cs typeface="Calibri"/>
                <a:sym typeface="Calibri"/>
              </a:rPr>
              <a:t>• Visual insights generated from dataset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type="title"/>
          </p:nvPr>
        </p:nvSpPr>
        <p:spPr>
          <a:xfrm>
            <a:off x="1828788" y="4637500"/>
            <a:ext cx="5486400" cy="4251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
              <a:t>Classification Report</a:t>
            </a:r>
            <a:endParaRPr/>
          </a:p>
        </p:txBody>
      </p:sp>
      <p:pic>
        <p:nvPicPr>
          <p:cNvPr id="121" name="Google Shape;121;p23"/>
          <p:cNvPicPr preferRelativeResize="0"/>
          <p:nvPr/>
        </p:nvPicPr>
        <p:blipFill>
          <a:blip r:embed="rId3">
            <a:alphaModFix/>
          </a:blip>
          <a:stretch>
            <a:fillRect/>
          </a:stretch>
        </p:blipFill>
        <p:spPr>
          <a:xfrm>
            <a:off x="2138550" y="390300"/>
            <a:ext cx="4366499" cy="41231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4"/>
          <p:cNvSpPr txBox="1"/>
          <p:nvPr>
            <p:ph type="title"/>
          </p:nvPr>
        </p:nvSpPr>
        <p:spPr>
          <a:xfrm>
            <a:off x="1948413" y="4492550"/>
            <a:ext cx="5486400" cy="4251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
              <a:t>ROC Curve</a:t>
            </a:r>
            <a:endParaRPr/>
          </a:p>
        </p:txBody>
      </p:sp>
      <p:pic>
        <p:nvPicPr>
          <p:cNvPr id="127" name="Google Shape;127;p24"/>
          <p:cNvPicPr preferRelativeResize="0"/>
          <p:nvPr/>
        </p:nvPicPr>
        <p:blipFill>
          <a:blip r:embed="rId3">
            <a:alphaModFix/>
          </a:blip>
          <a:stretch>
            <a:fillRect/>
          </a:stretch>
        </p:blipFill>
        <p:spPr>
          <a:xfrm>
            <a:off x="1334075" y="0"/>
            <a:ext cx="6475850" cy="419285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5"/>
          <p:cNvSpPr txBox="1"/>
          <p:nvPr>
            <p:ph type="title"/>
          </p:nvPr>
        </p:nvSpPr>
        <p:spPr>
          <a:xfrm>
            <a:off x="1703088" y="4459100"/>
            <a:ext cx="5486400" cy="4251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
              <a:t>Customer Behavior based on Features</a:t>
            </a:r>
            <a:endParaRPr/>
          </a:p>
        </p:txBody>
      </p:sp>
      <p:pic>
        <p:nvPicPr>
          <p:cNvPr id="133" name="Google Shape;133;p25"/>
          <p:cNvPicPr preferRelativeResize="0"/>
          <p:nvPr/>
        </p:nvPicPr>
        <p:blipFill>
          <a:blip r:embed="rId3">
            <a:alphaModFix/>
          </a:blip>
          <a:stretch>
            <a:fillRect/>
          </a:stretch>
        </p:blipFill>
        <p:spPr>
          <a:xfrm>
            <a:off x="1288500" y="234175"/>
            <a:ext cx="6566999" cy="39698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6"/>
          <p:cNvSpPr txBox="1"/>
          <p:nvPr>
            <p:ph type="title"/>
          </p:nvPr>
        </p:nvSpPr>
        <p:spPr>
          <a:xfrm>
            <a:off x="1828788" y="4505050"/>
            <a:ext cx="5486400" cy="4251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
              <a:t>Purchase by Gender</a:t>
            </a:r>
            <a:endParaRPr/>
          </a:p>
        </p:txBody>
      </p:sp>
      <p:pic>
        <p:nvPicPr>
          <p:cNvPr id="139" name="Google Shape;139;p26"/>
          <p:cNvPicPr preferRelativeResize="0"/>
          <p:nvPr/>
        </p:nvPicPr>
        <p:blipFill>
          <a:blip r:embed="rId3">
            <a:alphaModFix/>
          </a:blip>
          <a:stretch>
            <a:fillRect/>
          </a:stretch>
        </p:blipFill>
        <p:spPr>
          <a:xfrm>
            <a:off x="1914513" y="171163"/>
            <a:ext cx="5400675" cy="43338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7"/>
          <p:cNvSpPr txBox="1"/>
          <p:nvPr>
            <p:ph type="title"/>
          </p:nvPr>
        </p:nvSpPr>
        <p:spPr>
          <a:xfrm>
            <a:off x="1828788" y="4503700"/>
            <a:ext cx="5486400" cy="4251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
              <a:t>Purchase by Income</a:t>
            </a:r>
            <a:endParaRPr/>
          </a:p>
        </p:txBody>
      </p:sp>
      <p:pic>
        <p:nvPicPr>
          <p:cNvPr id="145" name="Google Shape;145;p27"/>
          <p:cNvPicPr preferRelativeResize="0"/>
          <p:nvPr/>
        </p:nvPicPr>
        <p:blipFill>
          <a:blip r:embed="rId3">
            <a:alphaModFix/>
          </a:blip>
          <a:stretch>
            <a:fillRect/>
          </a:stretch>
        </p:blipFill>
        <p:spPr>
          <a:xfrm>
            <a:off x="1871675" y="167275"/>
            <a:ext cx="5400675" cy="42151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8"/>
          <p:cNvSpPr txBox="1"/>
          <p:nvPr>
            <p:ph type="title"/>
          </p:nvPr>
        </p:nvSpPr>
        <p:spPr>
          <a:xfrm>
            <a:off x="1781138" y="4347575"/>
            <a:ext cx="5486400" cy="4251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
              <a:t>Correlation Matrix</a:t>
            </a:r>
            <a:endParaRPr/>
          </a:p>
        </p:txBody>
      </p:sp>
      <p:pic>
        <p:nvPicPr>
          <p:cNvPr id="151" name="Google Shape;151;p28"/>
          <p:cNvPicPr preferRelativeResize="0"/>
          <p:nvPr/>
        </p:nvPicPr>
        <p:blipFill>
          <a:blip r:embed="rId3">
            <a:alphaModFix/>
          </a:blip>
          <a:stretch>
            <a:fillRect/>
          </a:stretch>
        </p:blipFill>
        <p:spPr>
          <a:xfrm>
            <a:off x="1701050" y="189575"/>
            <a:ext cx="5741900" cy="37914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9"/>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 sz="4400">
                <a:solidFill>
                  <a:schemeClr val="dk1"/>
                </a:solidFill>
                <a:latin typeface="Calibri"/>
                <a:ea typeface="Calibri"/>
                <a:cs typeface="Calibri"/>
                <a:sym typeface="Calibri"/>
              </a:rPr>
              <a:t>Conclusion</a:t>
            </a:r>
            <a:endParaRPr/>
          </a:p>
        </p:txBody>
      </p:sp>
      <p:sp>
        <p:nvSpPr>
          <p:cNvPr id="157" name="Google Shape;157;p29"/>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fontScale="85000" lnSpcReduction="20000"/>
          </a:bodyPr>
          <a:lstStyle/>
          <a:p>
            <a:pPr indent="-312420" lvl="0" marL="342900" rtl="0" algn="l">
              <a:spcBef>
                <a:spcPts val="0"/>
              </a:spcBef>
              <a:spcAft>
                <a:spcPts val="0"/>
              </a:spcAft>
              <a:buClr>
                <a:schemeClr val="dk1"/>
              </a:buClr>
              <a:buSzPct val="100000"/>
              <a:buChar char="●"/>
            </a:pPr>
            <a:r>
              <a:rPr lang="en" sz="3200">
                <a:solidFill>
                  <a:schemeClr val="dk1"/>
                </a:solidFill>
                <a:latin typeface="Calibri"/>
                <a:ea typeface="Calibri"/>
                <a:cs typeface="Calibri"/>
                <a:sym typeface="Calibri"/>
              </a:rPr>
              <a:t>AI models like Random Forest improve purchase prediction</a:t>
            </a:r>
            <a:endParaRPr/>
          </a:p>
          <a:p>
            <a:pPr indent="-259080" lvl="1" marL="742950" rtl="0" algn="l">
              <a:spcBef>
                <a:spcPts val="560"/>
              </a:spcBef>
              <a:spcAft>
                <a:spcPts val="0"/>
              </a:spcAft>
              <a:buClr>
                <a:schemeClr val="dk1"/>
              </a:buClr>
              <a:buSzPct val="100000"/>
              <a:buChar char="○"/>
            </a:pPr>
            <a:r>
              <a:rPr lang="en" sz="2800">
                <a:solidFill>
                  <a:schemeClr val="dk1"/>
                </a:solidFill>
                <a:latin typeface="Calibri"/>
                <a:ea typeface="Calibri"/>
                <a:cs typeface="Calibri"/>
                <a:sym typeface="Calibri"/>
              </a:rPr>
              <a:t>• Data-driven marketing enhances customer engagement</a:t>
            </a:r>
            <a:endParaRPr/>
          </a:p>
          <a:p>
            <a:pPr indent="-259080" lvl="1" marL="742950" rtl="0" algn="l">
              <a:spcBef>
                <a:spcPts val="560"/>
              </a:spcBef>
              <a:spcAft>
                <a:spcPts val="0"/>
              </a:spcAft>
              <a:buClr>
                <a:schemeClr val="dk1"/>
              </a:buClr>
              <a:buSzPct val="100000"/>
              <a:buChar char="○"/>
            </a:pPr>
            <a:r>
              <a:rPr lang="en" sz="2800">
                <a:solidFill>
                  <a:schemeClr val="dk1"/>
                </a:solidFill>
                <a:latin typeface="Calibri"/>
                <a:ea typeface="Calibri"/>
                <a:cs typeface="Calibri"/>
                <a:sym typeface="Calibri"/>
              </a:rPr>
              <a:t>• Ethical use and transparency are essential for real-world AI</a:t>
            </a:r>
            <a:endParaRPr/>
          </a:p>
          <a:p>
            <a:pPr indent="0" lvl="0" marL="0" rtl="0" algn="l">
              <a:spcBef>
                <a:spcPts val="560"/>
              </a:spcBef>
              <a:spcAft>
                <a:spcPts val="1200"/>
              </a:spcAft>
              <a:buNone/>
            </a:pPr>
            <a:r>
              <a:rPr lang="en" sz="2800">
                <a:solidFill>
                  <a:schemeClr val="dk1"/>
                </a:solidFill>
                <a:latin typeface="Calibri"/>
                <a:ea typeface="Calibri"/>
                <a:cs typeface="Calibri"/>
                <a:sym typeface="Calibri"/>
              </a:rPr>
              <a:t>• Future work: Add deployment, dashboard, or real-time API, data governance/ethical considerations, create an interface to use personal data</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0"/>
          <p:cNvSpPr txBox="1"/>
          <p:nvPr>
            <p:ph type="title"/>
          </p:nvPr>
        </p:nvSpPr>
        <p:spPr>
          <a:xfrm>
            <a:off x="457200" y="205978"/>
            <a:ext cx="8229600" cy="8574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
              <a:t>Reference</a:t>
            </a:r>
            <a:endParaRPr/>
          </a:p>
        </p:txBody>
      </p:sp>
      <p:sp>
        <p:nvSpPr>
          <p:cNvPr id="163" name="Google Shape;163;p30"/>
          <p:cNvSpPr txBox="1"/>
          <p:nvPr>
            <p:ph idx="1" type="body"/>
          </p:nvPr>
        </p:nvSpPr>
        <p:spPr>
          <a:xfrm>
            <a:off x="457200" y="1200150"/>
            <a:ext cx="8229600" cy="3394500"/>
          </a:xfrm>
          <a:prstGeom prst="rect">
            <a:avLst/>
          </a:prstGeom>
        </p:spPr>
        <p:txBody>
          <a:bodyPr anchorCtr="0" anchor="t" bIns="45700" lIns="91425" spcFirstLastPara="1" rIns="91425" wrap="square" tIns="45700">
            <a:normAutofit/>
          </a:bodyPr>
          <a:lstStyle/>
          <a:p>
            <a:pPr indent="-298450" lvl="0" marL="457200" rtl="0" algn="just">
              <a:spcBef>
                <a:spcPts val="1200"/>
              </a:spcBef>
              <a:spcAft>
                <a:spcPts val="0"/>
              </a:spcAft>
              <a:buClr>
                <a:srgbClr val="000000"/>
              </a:buClr>
              <a:buSzPts val="1100"/>
              <a:buFont typeface="Arial"/>
              <a:buAutoNum type="arabicPeriod"/>
            </a:pPr>
            <a:r>
              <a:rPr b="1" lang="en" sz="1100" u="sng">
                <a:solidFill>
                  <a:srgbClr val="1155CC"/>
                </a:solidFill>
                <a:latin typeface="Arial"/>
                <a:ea typeface="Arial"/>
                <a:cs typeface="Arial"/>
                <a:sym typeface="Arial"/>
                <a:hlinkClick r:id="rId3">
                  <a:extLst>
                    <a:ext uri="{A12FA001-AC4F-418D-AE19-62706E023703}">
                      <ahyp:hlinkClr val="tx"/>
                    </a:ext>
                  </a:extLst>
                </a:hlinkClick>
              </a:rPr>
              <a:t>Customer Purchasing Behaviors</a:t>
            </a:r>
            <a:endParaRPr b="1" sz="1100" u="sng">
              <a:solidFill>
                <a:srgbClr val="1155CC"/>
              </a:solidFill>
              <a:latin typeface="Arial"/>
              <a:ea typeface="Arial"/>
              <a:cs typeface="Arial"/>
              <a:sym typeface="Arial"/>
            </a:endParaRPr>
          </a:p>
          <a:p>
            <a:pPr indent="-298450" lvl="1" marL="914400" rtl="0" algn="just">
              <a:spcBef>
                <a:spcPts val="0"/>
              </a:spcBef>
              <a:spcAft>
                <a:spcPts val="0"/>
              </a:spcAft>
              <a:buSzPts val="1100"/>
              <a:buFont typeface="Arial"/>
              <a:buChar char="○"/>
            </a:pPr>
            <a:r>
              <a:rPr lang="en" sz="1100">
                <a:solidFill>
                  <a:schemeClr val="dk1"/>
                </a:solidFill>
                <a:latin typeface="Arial"/>
                <a:ea typeface="Arial"/>
                <a:cs typeface="Arial"/>
                <a:sym typeface="Arial"/>
              </a:rPr>
              <a:t>Primary dataset for behavioral pattern analysis</a:t>
            </a:r>
            <a:endParaRPr sz="1100">
              <a:solidFill>
                <a:schemeClr val="dk1"/>
              </a:solidFill>
              <a:latin typeface="Arial"/>
              <a:ea typeface="Arial"/>
              <a:cs typeface="Arial"/>
              <a:sym typeface="Arial"/>
            </a:endParaRPr>
          </a:p>
          <a:p>
            <a:pPr indent="-298450" lvl="0" marL="457200" rtl="0" algn="just">
              <a:spcBef>
                <a:spcPts val="0"/>
              </a:spcBef>
              <a:spcAft>
                <a:spcPts val="0"/>
              </a:spcAft>
              <a:buClr>
                <a:srgbClr val="000000"/>
              </a:buClr>
              <a:buSzPts val="1100"/>
              <a:buFont typeface="Arial"/>
              <a:buAutoNum type="arabicPeriod"/>
            </a:pPr>
            <a:r>
              <a:rPr b="1" lang="en" sz="1100" u="sng">
                <a:solidFill>
                  <a:srgbClr val="1155CC"/>
                </a:solidFill>
                <a:latin typeface="Arial"/>
                <a:ea typeface="Arial"/>
                <a:cs typeface="Arial"/>
                <a:sym typeface="Arial"/>
                <a:hlinkClick r:id="rId4">
                  <a:extLst>
                    <a:ext uri="{A12FA001-AC4F-418D-AE19-62706E023703}">
                      <ahyp:hlinkClr val="tx"/>
                    </a:ext>
                  </a:extLst>
                </a:hlinkClick>
              </a:rPr>
              <a:t>Consumer Behavior and Shopping Habits</a:t>
            </a:r>
            <a:endParaRPr b="1" sz="1100" u="sng">
              <a:solidFill>
                <a:srgbClr val="1155CC"/>
              </a:solidFill>
              <a:latin typeface="Arial"/>
              <a:ea typeface="Arial"/>
              <a:cs typeface="Arial"/>
              <a:sym typeface="Arial"/>
            </a:endParaRPr>
          </a:p>
          <a:p>
            <a:pPr indent="-298450" lvl="1" marL="914400" rtl="0" algn="just">
              <a:spcBef>
                <a:spcPts val="0"/>
              </a:spcBef>
              <a:spcAft>
                <a:spcPts val="0"/>
              </a:spcAft>
              <a:buSzPts val="1100"/>
              <a:buFont typeface="Arial"/>
              <a:buChar char="○"/>
            </a:pPr>
            <a:r>
              <a:rPr lang="en" sz="1100">
                <a:solidFill>
                  <a:schemeClr val="dk1"/>
                </a:solidFill>
                <a:latin typeface="Arial"/>
                <a:ea typeface="Arial"/>
                <a:cs typeface="Arial"/>
                <a:sym typeface="Arial"/>
              </a:rPr>
              <a:t>Supplementary data for shopping habit trends</a:t>
            </a:r>
            <a:endParaRPr sz="1100">
              <a:solidFill>
                <a:schemeClr val="dk1"/>
              </a:solidFill>
              <a:latin typeface="Arial"/>
              <a:ea typeface="Arial"/>
              <a:cs typeface="Arial"/>
              <a:sym typeface="Arial"/>
            </a:endParaRPr>
          </a:p>
          <a:p>
            <a:pPr indent="-298450" lvl="0" marL="457200" rtl="0" algn="just">
              <a:spcBef>
                <a:spcPts val="0"/>
              </a:spcBef>
              <a:spcAft>
                <a:spcPts val="0"/>
              </a:spcAft>
              <a:buClr>
                <a:srgbClr val="000000"/>
              </a:buClr>
              <a:buSzPts val="1100"/>
              <a:buFont typeface="Arial"/>
              <a:buAutoNum type="arabicPeriod"/>
            </a:pPr>
            <a:r>
              <a:rPr b="1" lang="en" sz="1100" u="sng">
                <a:solidFill>
                  <a:srgbClr val="1155CC"/>
                </a:solidFill>
                <a:latin typeface="Arial"/>
                <a:ea typeface="Arial"/>
                <a:cs typeface="Arial"/>
                <a:sym typeface="Arial"/>
                <a:hlinkClick r:id="rId5">
                  <a:extLst>
                    <a:ext uri="{A12FA001-AC4F-418D-AE19-62706E023703}">
                      <ahyp:hlinkClr val="tx"/>
                    </a:ext>
                  </a:extLst>
                </a:hlinkClick>
              </a:rPr>
              <a:t>E-Commerce Customer Behavior</a:t>
            </a:r>
            <a:endParaRPr b="1" sz="1100" u="sng">
              <a:solidFill>
                <a:srgbClr val="1155CC"/>
              </a:solidFill>
              <a:latin typeface="Arial"/>
              <a:ea typeface="Arial"/>
              <a:cs typeface="Arial"/>
              <a:sym typeface="Arial"/>
            </a:endParaRPr>
          </a:p>
          <a:p>
            <a:pPr indent="-298450" lvl="1" marL="914400" rtl="0" algn="just">
              <a:spcBef>
                <a:spcPts val="0"/>
              </a:spcBef>
              <a:spcAft>
                <a:spcPts val="0"/>
              </a:spcAft>
              <a:buSzPts val="1100"/>
              <a:buFont typeface="Arial"/>
              <a:buChar char="○"/>
            </a:pPr>
            <a:r>
              <a:rPr lang="en" sz="1100">
                <a:solidFill>
                  <a:schemeClr val="dk1"/>
                </a:solidFill>
                <a:latin typeface="Arial"/>
                <a:ea typeface="Arial"/>
                <a:cs typeface="Arial"/>
                <a:sym typeface="Arial"/>
              </a:rPr>
              <a:t>Online shopping behavior patterns</a:t>
            </a:r>
            <a:endParaRPr sz="1100">
              <a:solidFill>
                <a:schemeClr val="dk1"/>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